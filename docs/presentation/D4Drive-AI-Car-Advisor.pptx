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ba9cf5c-ff60-adfb-f482-812f72dc4e5a}">
          <p14:sldIdLst>
            <p14:sldId id="256"/>
          </p14:sldIdLst>
        </p14:section>
        <p14:section name="The feature" id="{d7e96271-82ba-e38b-aa3f-adcd7a326df3}">
          <p14:sldIdLst>
            <p14:sldId id="257"/>
          </p14:sldIdLst>
        </p14:section>
        <p14:section name="How it works" id="{5c6f8dd8-aaaf-410d-f8c5-32331ac212b8}">
          <p14:sldIdLst>
            <p14:sldId id="258"/>
            <p14:sldId id="259"/>
          </p14:sldIdLst>
        </p14:section>
        <p14:section name="The database" id="{ce38483f-c9d0-72c1-d96f-1ed572264b02}">
          <p14:sldIdLst>
            <p14:sldId id="260"/>
          </p14:sldIdLst>
        </p14:section>
        <p14:section name="Demo" id="{576219fa-2daa-adab-7878-cf3faccba983}">
          <p14:sldIdLst>
            <p14:sldId id="261"/>
          </p14:sldIdLst>
        </p14:section>
        <p14:section name="Wrap-up" id="{71802d66-3670-87f7-56e0-b0353d2e15ca}">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D4Drive is our car rental and doorstep delivery site for Bengaluru. For the AI feature I added a car advisor: a chat button on every public page. You describe your trip in plain words and it recommends cars from our real fleet, with real prices. The AI is an open model, qwen2.5:3b, running on this machine through Ollama, and it gets its facts from two tools that query our MySQL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it does: the visitor types what they need, the advisor searches the fleet and answers in a few sentences with up to three cars. Each car card links to its page, where Reserve starts the normal booking. The widget lives in the root layout, so the conversation survives moving between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only ever calls our own route. The route sends the conversation to Ollama on localhost with two tool definitions. The model does not touch the database: when it needs facts it replies with a tool call, our server runs that tool against MySQL and returns the rows, and the model writes the answer from them. Before a reply is shown, the server checks it: no cars or prices before a search, and every rupee amount must be one the tools returned. Nothing leaves our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Ollama downloads open models and serves them on localhost port 11434. A language model on its own only predicts text, so it could invent a car or a price, and our first test run did exactly that. Tool calling gives it a way to ask for facts: we declare search_fleet and check_availability, and when the model needs data it returns a structured call instead of prose. Our code runs it and hands back the result as a tool message. Because a small model still cuts corners, the server checks each draft before the visitor sees it and sends it back with a correction if it is not grounded.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tools are where the AI feature meets the DBMS coursework: the model only chooses a function and its arguments. The server validates them with zod and binds them into fixed, parameterised SQL, exactly like the catalog page. check_availability reuses the stored function fn_car_available, which sp_create_booking also uses. The output on the left is real: I ran both tools against the seeded database. Five automatic cars with at least five seats, and the Honda City, named in words, is free for those three days at 7,200 rupees. A car can be named instead of numbered because the chat history keeps names, not ids; a guessed id is never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unedited answers from the running site. The visitor asks for five seats and a highway trip. While the model works, the panel says it is looking through the fleet. The reply recommends the City ZX, Seltos HTX and Creta SX at their real daily rates, all automatic, and the cards link to the car pages. Asked about dates, it checks availability by name and prices the three days at 7,200 rupees, which matches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runs on our own server, every input is validated, the SQL is read-only and parameterised, and the server checks each draft before the visitor sees it. 72 tests pass against MySQL and the browser smoke test now includes a live answer. The limits: a 3 billion parameter model on a laptop CPU takes 10 to 27 seconds and can still get a description wrong, which is why the widget says the car page has the final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A1A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BDBCB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tx2"/>
                </a:solidFill>
              </a:rPr>
              <a:t>D4Drive  |  AI car advisor</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A1A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chemeClr val="accent3"/>
                </a:solidFill>
              </a:rPr>
              <a:t>D4Drive  |  AI car advisor</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jp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548640" y="685800"/>
            <a:ext cx="5486400" cy="320040"/>
          </a:xfrm>
          <a:prstGeom prst="rect">
            <a:avLst/>
          </a:prstGeom>
          <a:noFill/>
          <a:ln/>
        </p:spPr>
        <p:txBody>
          <a:bodyPr wrap="square" lIns="0" tIns="0" rIns="0" bIns="0" rtlCol="0" anchor="ctr"/>
          <a:lstStyle/>
          <a:p>
            <a:pPr indent="0" marL="0">
              <a:buNone/>
            </a:pPr>
            <a:r>
              <a:rPr lang="en-US" sz="1200" b="1" spc="200" kern="0" dirty="0">
                <a:solidFill>
                  <a:schemeClr val="accent3"/>
                </a:solidFill>
              </a:rPr>
              <a:t>AI FEATURE INTEGRATION</a:t>
            </a:r>
            <a:endParaRPr lang="en-US" sz="1200" dirty="0"/>
          </a:p>
        </p:txBody>
      </p:sp>
      <p:sp>
        <p:nvSpPr>
          <p:cNvPr id="3" name="Title"/>
          <p:cNvSpPr txBox="1"/>
          <p:nvPr/>
        </p:nvSpPr>
        <p:spPr>
          <a:xfrm>
            <a:off x="548640" y="1097280"/>
            <a:ext cx="5486400" cy="155448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Which car? An AI advisor for D4Drive</a:t>
            </a:r>
            <a:endParaRPr lang="en-US" sz="4000" dirty="0"/>
          </a:p>
        </p:txBody>
      </p:sp>
      <p:sp>
        <p:nvSpPr>
          <p:cNvPr id="4" name="Subtitle"/>
          <p:cNvSpPr txBox="1"/>
          <p:nvPr/>
        </p:nvSpPr>
        <p:spPr>
          <a:xfrm>
            <a:off x="548640" y="2743200"/>
            <a:ext cx="5120640" cy="914400"/>
          </a:xfrm>
          <a:prstGeom prst="rect">
            <a:avLst/>
          </a:prstGeom>
          <a:noFill/>
          <a:ln/>
        </p:spPr>
        <p:txBody>
          <a:bodyPr wrap="square" lIns="0" tIns="0" rIns="0" bIns="0" rtlCol="0" anchor="t"/>
          <a:lstStyle/>
          <a:p>
            <a:pPr indent="0" marL="0">
              <a:buNone/>
            </a:pPr>
            <a:r>
              <a:rPr lang="en-US" sz="1600" dirty="0">
                <a:solidFill>
                  <a:schemeClr val="accent4"/>
                </a:solidFill>
              </a:rPr>
              <a:t>A small floating chatbot that helps a visitor choose a car from the live fleet: a language model running locally in Ollama, calling tools over the project’s MySQL database.</a:t>
            </a:r>
            <a:endParaRPr lang="en-US" sz="1600" dirty="0"/>
          </a:p>
        </p:txBody>
      </p:sp>
      <p:sp>
        <p:nvSpPr>
          <p:cNvPr id="5" name="Byline"/>
          <p:cNvSpPr txBox="1"/>
          <p:nvPr/>
        </p:nvSpPr>
        <p:spPr>
          <a:xfrm>
            <a:off x="548640" y="4343400"/>
            <a:ext cx="5120640" cy="320040"/>
          </a:xfrm>
          <a:prstGeom prst="rect">
            <a:avLst/>
          </a:prstGeom>
          <a:noFill/>
          <a:ln/>
        </p:spPr>
        <p:txBody>
          <a:bodyPr wrap="square" lIns="0" tIns="0" rIns="0" bIns="0" rtlCol="0" anchor="ctr"/>
          <a:lstStyle/>
          <a:p>
            <a:pPr indent="0" marL="0">
              <a:buNone/>
            </a:pPr>
            <a:r>
              <a:rPr lang="en-US" sz="1200" dirty="0">
                <a:solidFill>
                  <a:schemeClr val="accent3"/>
                </a:solidFill>
              </a:rPr>
              <a:t>Rohit  |  D4Drive DBMS project  |  October 2026</a:t>
            </a:r>
            <a:endParaRPr lang="en-US" sz="1200" dirty="0"/>
          </a:p>
        </p:txBody>
      </p:sp>
      <p:pic>
        <p:nvPicPr>
          <p:cNvPr id="6" name="The advisor open on a phone" descr="The advisor open on a phone">    </p:cNvPr>
          <p:cNvPicPr>
            <a:picLocks noChangeAspect="1"/>
          </p:cNvPicPr>
          <p:nvPr/>
        </p:nvPicPr>
        <p:blipFill>
          <a:blip r:embed="rId1"/>
          <a:stretch>
            <a:fillRect/>
          </a:stretch>
        </p:blipFill>
        <p:spPr>
          <a:xfrm>
            <a:off x="6446520" y="457200"/>
            <a:ext cx="1965960" cy="4251960"/>
          </a:xfrm>
          <a:prstGeom prst="rect">
            <a:avLst/>
          </a:prstGeom>
          <a:effectLst>
            <a:outerShdw sx="100000" sy="100000" kx="0" ky="0" algn="bl" rotWithShape="0" blurRad="127000" dist="38100" dir="5400000">
              <a:srgbClr val="1A1A1A">
                <a:alpha val="2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feature at a glance</a:t>
            </a:r>
            <a:endParaRPr lang="en-US" sz="3200" dirty="0"/>
          </a:p>
        </p:txBody>
      </p:sp>
      <p:sp>
        <p:nvSpPr>
          <p:cNvPr id="3" name="Ask in plain words badge"/>
          <p:cNvSpPr/>
          <p:nvPr/>
        </p:nvSpPr>
        <p:spPr>
          <a:xfrm>
            <a:off x="457200" y="1188720"/>
            <a:ext cx="457200" cy="457200"/>
          </a:xfrm>
          <a:prstGeom prst="rect">
            <a:avLst/>
          </a:prstGeom>
          <a:solidFill>
            <a:schemeClr val="accent1"/>
          </a:solidFill>
          <a:ln/>
        </p:spPr>
      </p:sp>
      <p:pic>
        <p:nvPicPr>
          <p:cNvPr id="4" name="Ask in plain words icon" descr="preencoded.png">    </p:cNvPr>
          <p:cNvPicPr>
            <a:picLocks noChangeAspect="1"/>
          </p:cNvPicPr>
          <p:nvPr/>
        </p:nvPicPr>
        <p:blipFill>
          <a:blip r:embed="rId1"/>
          <a:stretch>
            <a:fillRect/>
          </a:stretch>
        </p:blipFill>
        <p:spPr>
          <a:xfrm>
            <a:off x="557784" y="1289304"/>
            <a:ext cx="256032" cy="256032"/>
          </a:xfrm>
          <a:prstGeom prst="rect">
            <a:avLst/>
          </a:prstGeom>
        </p:spPr>
      </p:pic>
      <p:sp>
        <p:nvSpPr>
          <p:cNvPr id="5" name="Ask in plain words heading"/>
          <p:cNvSpPr txBox="1"/>
          <p:nvPr/>
        </p:nvSpPr>
        <p:spPr>
          <a:xfrm>
            <a:off x="1097280" y="1152144"/>
            <a:ext cx="2834640" cy="292608"/>
          </a:xfrm>
          <a:prstGeom prst="rect">
            <a:avLst/>
          </a:prstGeom>
          <a:noFill/>
          <a:ln/>
        </p:spPr>
        <p:txBody>
          <a:bodyPr wrap="square" lIns="0" tIns="0" rIns="0" bIns="0" rtlCol="0" anchor="ctr"/>
          <a:lstStyle/>
          <a:p>
            <a:pPr indent="0" marL="0">
              <a:buNone/>
            </a:pPr>
            <a:r>
              <a:rPr lang="en-US" sz="1500" b="1" dirty="0">
                <a:solidFill>
                  <a:schemeClr val="tx1"/>
                </a:solidFill>
              </a:rPr>
              <a:t>Ask in plain words</a:t>
            </a:r>
            <a:endParaRPr lang="en-US" sz="1500" dirty="0"/>
          </a:p>
        </p:txBody>
      </p:sp>
      <p:sp>
        <p:nvSpPr>
          <p:cNvPr id="6" name="Ask in plain words text"/>
          <p:cNvSpPr txBox="1"/>
          <p:nvPr/>
        </p:nvSpPr>
        <p:spPr>
          <a:xfrm>
            <a:off x="1097280" y="1444752"/>
            <a:ext cx="2834640" cy="530352"/>
          </a:xfrm>
          <a:prstGeom prst="rect">
            <a:avLst/>
          </a:prstGeom>
          <a:noFill/>
          <a:ln/>
        </p:spPr>
        <p:txBody>
          <a:bodyPr wrap="square" lIns="0" tIns="0" rIns="0" bIns="0" rtlCol="0" anchor="t"/>
          <a:lstStyle/>
          <a:p>
            <a:pPr indent="0" marL="0">
              <a:buNone/>
            </a:pPr>
            <a:r>
              <a:rPr lang="en-US" sz="1250" dirty="0">
                <a:solidFill>
                  <a:schemeClr val="tx2"/>
                </a:solidFill>
              </a:rPr>
              <a:t>Type “Five adults to Coorg, automatic” instead of setting filters.</a:t>
            </a:r>
            <a:endParaRPr lang="en-US" sz="1250" dirty="0"/>
          </a:p>
        </p:txBody>
      </p:sp>
      <p:sp>
        <p:nvSpPr>
          <p:cNvPr id="7" name="Answers from the live fleet badge"/>
          <p:cNvSpPr/>
          <p:nvPr/>
        </p:nvSpPr>
        <p:spPr>
          <a:xfrm>
            <a:off x="457200" y="2057400"/>
            <a:ext cx="457200" cy="457200"/>
          </a:xfrm>
          <a:prstGeom prst="rect">
            <a:avLst/>
          </a:prstGeom>
          <a:solidFill>
            <a:schemeClr val="accent1"/>
          </a:solidFill>
          <a:ln/>
        </p:spPr>
      </p:sp>
      <p:pic>
        <p:nvPicPr>
          <p:cNvPr id="8" name="Answers from the live fleet icon" descr="preencoded.png">    </p:cNvPr>
          <p:cNvPicPr>
            <a:picLocks noChangeAspect="1"/>
          </p:cNvPicPr>
          <p:nvPr/>
        </p:nvPicPr>
        <p:blipFill>
          <a:blip r:embed="rId2"/>
          <a:stretch>
            <a:fillRect/>
          </a:stretch>
        </p:blipFill>
        <p:spPr>
          <a:xfrm>
            <a:off x="557784" y="2157984"/>
            <a:ext cx="256032" cy="256032"/>
          </a:xfrm>
          <a:prstGeom prst="rect">
            <a:avLst/>
          </a:prstGeom>
        </p:spPr>
      </p:pic>
      <p:sp>
        <p:nvSpPr>
          <p:cNvPr id="9" name="Answers from the live fleet heading"/>
          <p:cNvSpPr txBox="1"/>
          <p:nvPr/>
        </p:nvSpPr>
        <p:spPr>
          <a:xfrm>
            <a:off x="1097280" y="2020824"/>
            <a:ext cx="2834640" cy="292608"/>
          </a:xfrm>
          <a:prstGeom prst="rect">
            <a:avLst/>
          </a:prstGeom>
          <a:noFill/>
          <a:ln/>
        </p:spPr>
        <p:txBody>
          <a:bodyPr wrap="square" lIns="0" tIns="0" rIns="0" bIns="0" rtlCol="0" anchor="ctr"/>
          <a:lstStyle/>
          <a:p>
            <a:pPr indent="0" marL="0">
              <a:buNone/>
            </a:pPr>
            <a:r>
              <a:rPr lang="en-US" sz="1500" b="1" dirty="0">
                <a:solidFill>
                  <a:schemeClr val="tx1"/>
                </a:solidFill>
              </a:rPr>
              <a:t>Answers from the live fleet</a:t>
            </a:r>
            <a:endParaRPr lang="en-US" sz="1500" dirty="0"/>
          </a:p>
        </p:txBody>
      </p:sp>
      <p:sp>
        <p:nvSpPr>
          <p:cNvPr id="10" name="Answers from the live fleet text"/>
          <p:cNvSpPr txBox="1"/>
          <p:nvPr/>
        </p:nvSpPr>
        <p:spPr>
          <a:xfrm>
            <a:off x="1097280" y="2313432"/>
            <a:ext cx="2834640" cy="530352"/>
          </a:xfrm>
          <a:prstGeom prst="rect">
            <a:avLst/>
          </a:prstGeom>
          <a:noFill/>
          <a:ln/>
        </p:spPr>
        <p:txBody>
          <a:bodyPr wrap="square" lIns="0" tIns="0" rIns="0" bIns="0" rtlCol="0" anchor="t"/>
          <a:lstStyle/>
          <a:p>
            <a:pPr indent="0" marL="0">
              <a:buNone/>
            </a:pPr>
            <a:r>
              <a:rPr lang="en-US" sz="1250" dirty="0">
                <a:solidFill>
                  <a:schemeClr val="tx2"/>
                </a:solidFill>
              </a:rPr>
              <a:t>Every car, price and seat count comes from MySQL, never from the model’s memory.</a:t>
            </a:r>
            <a:endParaRPr lang="en-US" sz="1250" dirty="0"/>
          </a:p>
        </p:txBody>
      </p:sp>
      <p:sp>
        <p:nvSpPr>
          <p:cNvPr id="11" name="One tap to the car badge"/>
          <p:cNvSpPr/>
          <p:nvPr/>
        </p:nvSpPr>
        <p:spPr>
          <a:xfrm>
            <a:off x="457200" y="2926080"/>
            <a:ext cx="457200" cy="457200"/>
          </a:xfrm>
          <a:prstGeom prst="rect">
            <a:avLst/>
          </a:prstGeom>
          <a:solidFill>
            <a:schemeClr val="accent1"/>
          </a:solidFill>
          <a:ln/>
        </p:spPr>
      </p:sp>
      <p:pic>
        <p:nvPicPr>
          <p:cNvPr id="12" name="One tap to the car icon" descr="preencoded.png">    </p:cNvPr>
          <p:cNvPicPr>
            <a:picLocks noChangeAspect="1"/>
          </p:cNvPicPr>
          <p:nvPr/>
        </p:nvPicPr>
        <p:blipFill>
          <a:blip r:embed="rId3"/>
          <a:stretch>
            <a:fillRect/>
          </a:stretch>
        </p:blipFill>
        <p:spPr>
          <a:xfrm>
            <a:off x="557784" y="3026664"/>
            <a:ext cx="256032" cy="256032"/>
          </a:xfrm>
          <a:prstGeom prst="rect">
            <a:avLst/>
          </a:prstGeom>
        </p:spPr>
      </p:pic>
      <p:sp>
        <p:nvSpPr>
          <p:cNvPr id="13" name="One tap to the car heading"/>
          <p:cNvSpPr txBox="1"/>
          <p:nvPr/>
        </p:nvSpPr>
        <p:spPr>
          <a:xfrm>
            <a:off x="1097280" y="2889504"/>
            <a:ext cx="2834640" cy="292608"/>
          </a:xfrm>
          <a:prstGeom prst="rect">
            <a:avLst/>
          </a:prstGeom>
          <a:noFill/>
          <a:ln/>
        </p:spPr>
        <p:txBody>
          <a:bodyPr wrap="square" lIns="0" tIns="0" rIns="0" bIns="0" rtlCol="0" anchor="ctr"/>
          <a:lstStyle/>
          <a:p>
            <a:pPr indent="0" marL="0">
              <a:buNone/>
            </a:pPr>
            <a:r>
              <a:rPr lang="en-US" sz="1500" b="1" dirty="0">
                <a:solidFill>
                  <a:schemeClr val="tx1"/>
                </a:solidFill>
              </a:rPr>
              <a:t>One tap to the car</a:t>
            </a:r>
            <a:endParaRPr lang="en-US" sz="1500" dirty="0"/>
          </a:p>
        </p:txBody>
      </p:sp>
      <p:sp>
        <p:nvSpPr>
          <p:cNvPr id="14" name="One tap to the car text"/>
          <p:cNvSpPr txBox="1"/>
          <p:nvPr/>
        </p:nvSpPr>
        <p:spPr>
          <a:xfrm>
            <a:off x="1097280" y="3182112"/>
            <a:ext cx="2834640" cy="530352"/>
          </a:xfrm>
          <a:prstGeom prst="rect">
            <a:avLst/>
          </a:prstGeom>
          <a:noFill/>
          <a:ln/>
        </p:spPr>
        <p:txBody>
          <a:bodyPr wrap="square" lIns="0" tIns="0" rIns="0" bIns="0" rtlCol="0" anchor="t"/>
          <a:lstStyle/>
          <a:p>
            <a:pPr indent="0" marL="0">
              <a:buNone/>
            </a:pPr>
            <a:r>
              <a:rPr lang="en-US" sz="1250" dirty="0">
                <a:solidFill>
                  <a:schemeClr val="tx2"/>
                </a:solidFill>
              </a:rPr>
              <a:t>Up to three suggested cars, each linking to its page to reserve.</a:t>
            </a:r>
            <a:endParaRPr lang="en-US" sz="1250" dirty="0"/>
          </a:p>
        </p:txBody>
      </p:sp>
      <p:sp>
        <p:nvSpPr>
          <p:cNvPr id="15" name="On every public page badge"/>
          <p:cNvSpPr/>
          <p:nvPr/>
        </p:nvSpPr>
        <p:spPr>
          <a:xfrm>
            <a:off x="457200" y="3794760"/>
            <a:ext cx="457200" cy="457200"/>
          </a:xfrm>
          <a:prstGeom prst="rect">
            <a:avLst/>
          </a:prstGeom>
          <a:solidFill>
            <a:schemeClr val="accent1"/>
          </a:solidFill>
          <a:ln/>
        </p:spPr>
      </p:sp>
      <p:pic>
        <p:nvPicPr>
          <p:cNvPr id="16" name="On every public page icon" descr="preencoded.png">    </p:cNvPr>
          <p:cNvPicPr>
            <a:picLocks noChangeAspect="1"/>
          </p:cNvPicPr>
          <p:nvPr/>
        </p:nvPicPr>
        <p:blipFill>
          <a:blip r:embed="rId4"/>
          <a:stretch>
            <a:fillRect/>
          </a:stretch>
        </p:blipFill>
        <p:spPr>
          <a:xfrm>
            <a:off x="557784" y="3895344"/>
            <a:ext cx="256032" cy="256032"/>
          </a:xfrm>
          <a:prstGeom prst="rect">
            <a:avLst/>
          </a:prstGeom>
        </p:spPr>
      </p:pic>
      <p:sp>
        <p:nvSpPr>
          <p:cNvPr id="17" name="On every public page heading"/>
          <p:cNvSpPr txBox="1"/>
          <p:nvPr/>
        </p:nvSpPr>
        <p:spPr>
          <a:xfrm>
            <a:off x="1097280" y="3758184"/>
            <a:ext cx="2834640" cy="292608"/>
          </a:xfrm>
          <a:prstGeom prst="rect">
            <a:avLst/>
          </a:prstGeom>
          <a:noFill/>
          <a:ln/>
        </p:spPr>
        <p:txBody>
          <a:bodyPr wrap="square" lIns="0" tIns="0" rIns="0" bIns="0" rtlCol="0" anchor="ctr"/>
          <a:lstStyle/>
          <a:p>
            <a:pPr indent="0" marL="0">
              <a:buNone/>
            </a:pPr>
            <a:r>
              <a:rPr lang="en-US" sz="1500" b="1" dirty="0">
                <a:solidFill>
                  <a:schemeClr val="tx1"/>
                </a:solidFill>
              </a:rPr>
              <a:t>On every public page</a:t>
            </a:r>
            <a:endParaRPr lang="en-US" sz="1500" dirty="0"/>
          </a:p>
        </p:txBody>
      </p:sp>
      <p:sp>
        <p:nvSpPr>
          <p:cNvPr id="18" name="On every public page text"/>
          <p:cNvSpPr txBox="1"/>
          <p:nvPr/>
        </p:nvSpPr>
        <p:spPr>
          <a:xfrm>
            <a:off x="1097280" y="4050792"/>
            <a:ext cx="2834640" cy="530352"/>
          </a:xfrm>
          <a:prstGeom prst="rect">
            <a:avLst/>
          </a:prstGeom>
          <a:noFill/>
          <a:ln/>
        </p:spPr>
        <p:txBody>
          <a:bodyPr wrap="square" lIns="0" tIns="0" rIns="0" bIns="0" rtlCol="0" anchor="t"/>
          <a:lstStyle/>
          <a:p>
            <a:pPr indent="0" marL="0">
              <a:buNone/>
            </a:pPr>
            <a:r>
              <a:rPr lang="en-US" sz="1250" dirty="0">
                <a:solidFill>
                  <a:schemeClr val="tx2"/>
                </a:solidFill>
              </a:rPr>
              <a:t>A “Which car?” button at the bottom right; the chat stays open across pages.</a:t>
            </a:r>
            <a:endParaRPr lang="en-US" sz="1250" dirty="0"/>
          </a:p>
        </p:txBody>
      </p:sp>
      <p:pic>
        <p:nvPicPr>
          <p:cNvPr id="19" name="The advisor open over the fleet page" descr="The advisor open over the fleet page">    </p:cNvPr>
          <p:cNvPicPr>
            <a:picLocks noChangeAspect="1"/>
          </p:cNvPicPr>
          <p:nvPr/>
        </p:nvPicPr>
        <p:blipFill>
          <a:blip r:embed="rId5"/>
          <a:stretch>
            <a:fillRect/>
          </a:stretch>
        </p:blipFill>
        <p:spPr>
          <a:xfrm>
            <a:off x="4206240" y="1188720"/>
            <a:ext cx="4480560" cy="2798064"/>
          </a:xfrm>
          <a:prstGeom prst="rect">
            <a:avLst/>
          </a:prstGeom>
          <a:effectLst>
            <a:outerShdw sx="100000" sy="100000" kx="0" ky="0" algn="bl" rotWithShape="0" blurRad="127000" dist="38100" dir="5400000">
              <a:srgbClr val="1A1A1A">
                <a:alpha val="28000"/>
              </a:srgbClr>
            </a:outerShdw>
          </a:effectLst>
        </p:spPr>
      </p:pic>
      <p:sp>
        <p:nvSpPr>
          <p:cNvPr id="20" name="Screenshot caption"/>
          <p:cNvSpPr txBox="1"/>
          <p:nvPr/>
        </p:nvSpPr>
        <p:spPr>
          <a:xfrm>
            <a:off x="4206240" y="4069080"/>
            <a:ext cx="4480560" cy="274320"/>
          </a:xfrm>
          <a:prstGeom prst="rect">
            <a:avLst/>
          </a:prstGeom>
          <a:noFill/>
          <a:ln/>
        </p:spPr>
        <p:txBody>
          <a:bodyPr wrap="square" lIns="0" tIns="0" rIns="0" bIns="0" rtlCol="0" anchor="ctr"/>
          <a:lstStyle/>
          <a:p>
            <a:pPr indent="0" marL="0">
              <a:buNone/>
            </a:pPr>
            <a:r>
              <a:rPr lang="en-US" sz="1100" i="1" dirty="0">
                <a:solidFill>
                  <a:schemeClr val="tx2"/>
                </a:solidFill>
              </a:rPr>
              <a:t>The fleet page with the advisor open, on a laptop.</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How a question becomes an answer</a:t>
            </a:r>
            <a:endParaRPr lang="en-US" sz="3200" dirty="0"/>
          </a:p>
        </p:txBody>
      </p:sp>
      <p:sp>
        <p:nvSpPr>
          <p:cNvPr id="3" name="Widget box"/>
          <p:cNvSpPr/>
          <p:nvPr/>
        </p:nvSpPr>
        <p:spPr>
          <a:xfrm>
            <a:off x="457200" y="1417320"/>
            <a:ext cx="1828800" cy="1188720"/>
          </a:xfrm>
          <a:prstGeom prst="rect">
            <a:avLst/>
          </a:prstGeom>
          <a:solidFill>
            <a:schemeClr val="accent6"/>
          </a:solidFill>
          <a:ln w="9525">
            <a:solidFill>
              <a:schemeClr val="tx2"/>
            </a:solidFill>
            <a:prstDash val="solid"/>
          </a:ln>
        </p:spPr>
      </p:sp>
      <p:sp>
        <p:nvSpPr>
          <p:cNvPr id="4" name="Widget text"/>
          <p:cNvSpPr txBox="1"/>
          <p:nvPr/>
        </p:nvSpPr>
        <p:spPr>
          <a:xfrm>
            <a:off x="566928" y="1490472"/>
            <a:ext cx="1609344" cy="1042416"/>
          </a:xfrm>
          <a:prstGeom prst="rect">
            <a:avLst/>
          </a:prstGeom>
          <a:noFill/>
          <a:ln/>
        </p:spPr>
        <p:txBody>
          <a:bodyPr wrap="square" lIns="0" tIns="0" rIns="0" bIns="0" rtlCol="0" anchor="t"/>
          <a:lstStyle/>
          <a:p>
            <a:pPr indent="0" marL="0">
              <a:buNone/>
            </a:pPr>
            <a:r>
              <a:rPr lang="en-US" sz="1400" b="1" dirty="0">
                <a:solidFill>
                  <a:schemeClr val="tx1"/>
                </a:solidFill>
              </a:rPr>
              <a:t>Chat widget</a:t>
            </a:r>
            <a:endParaRPr lang="en-US" sz="1400" dirty="0"/>
          </a:p>
          <a:p>
            <a:pPr indent="0" marL="0">
              <a:buNone/>
            </a:pPr>
            <a:r>
              <a:rPr lang="en-US" sz="1100" dirty="0">
                <a:solidFill>
                  <a:schemeClr val="tx2"/>
                </a:solidFill>
              </a:rPr>
              <a:t>In the browser. Sends only the text of the chat to our own server.</a:t>
            </a:r>
            <a:endParaRPr lang="en-US" sz="1400" dirty="0"/>
          </a:p>
        </p:txBody>
      </p:sp>
      <p:sp>
        <p:nvSpPr>
          <p:cNvPr id="5" name="Route box"/>
          <p:cNvSpPr/>
          <p:nvPr/>
        </p:nvSpPr>
        <p:spPr>
          <a:xfrm>
            <a:off x="2926080" y="1417320"/>
            <a:ext cx="2194560" cy="1188720"/>
          </a:xfrm>
          <a:prstGeom prst="rect">
            <a:avLst/>
          </a:prstGeom>
          <a:solidFill>
            <a:schemeClr val="tx1"/>
          </a:solidFill>
          <a:ln w="9525">
            <a:solidFill>
              <a:schemeClr val="tx1"/>
            </a:solidFill>
            <a:prstDash val="solid"/>
          </a:ln>
        </p:spPr>
      </p:sp>
      <p:sp>
        <p:nvSpPr>
          <p:cNvPr id="6" name="Route text"/>
          <p:cNvSpPr txBox="1"/>
          <p:nvPr/>
        </p:nvSpPr>
        <p:spPr>
          <a:xfrm>
            <a:off x="3035808" y="1490472"/>
            <a:ext cx="1975104" cy="1042416"/>
          </a:xfrm>
          <a:prstGeom prst="rect">
            <a:avLst/>
          </a:prstGeom>
          <a:noFill/>
          <a:ln/>
        </p:spPr>
        <p:txBody>
          <a:bodyPr wrap="square" lIns="0" tIns="0" rIns="0" bIns="0" rtlCol="0" anchor="t"/>
          <a:lstStyle/>
          <a:p>
            <a:pPr indent="0" marL="0">
              <a:buNone/>
            </a:pPr>
            <a:r>
              <a:rPr lang="en-US" sz="1400" b="1" dirty="0">
                <a:solidFill>
                  <a:schemeClr val="bg1"/>
                </a:solidFill>
              </a:rPr>
              <a:t>POST /api/advisor</a:t>
            </a:r>
            <a:endParaRPr lang="en-US" sz="1400" dirty="0"/>
          </a:p>
          <a:p>
            <a:pPr indent="0" marL="0">
              <a:buNone/>
            </a:pPr>
            <a:r>
              <a:rPr lang="en-US" sz="1100" dirty="0">
                <a:solidFill>
                  <a:schemeClr val="accent4"/>
                </a:solidFill>
              </a:rPr>
              <a:t>Next.js route on our server: rate limit, zod check, then runs the loop.</a:t>
            </a:r>
            <a:endParaRPr lang="en-US" sz="1400" dirty="0"/>
          </a:p>
        </p:txBody>
      </p:sp>
      <p:sp>
        <p:nvSpPr>
          <p:cNvPr id="7" name="Ollama box"/>
          <p:cNvSpPr/>
          <p:nvPr/>
        </p:nvSpPr>
        <p:spPr>
          <a:xfrm>
            <a:off x="5852160" y="1051560"/>
            <a:ext cx="2834640" cy="868680"/>
          </a:xfrm>
          <a:prstGeom prst="rect">
            <a:avLst/>
          </a:prstGeom>
          <a:solidFill>
            <a:schemeClr val="accent6"/>
          </a:solidFill>
          <a:ln w="9525">
            <a:solidFill>
              <a:schemeClr val="tx2"/>
            </a:solidFill>
            <a:prstDash val="solid"/>
          </a:ln>
        </p:spPr>
      </p:sp>
      <p:sp>
        <p:nvSpPr>
          <p:cNvPr id="8" name="Ollama text"/>
          <p:cNvSpPr txBox="1"/>
          <p:nvPr/>
        </p:nvSpPr>
        <p:spPr>
          <a:xfrm>
            <a:off x="5961888" y="1124712"/>
            <a:ext cx="2615184" cy="722376"/>
          </a:xfrm>
          <a:prstGeom prst="rect">
            <a:avLst/>
          </a:prstGeom>
          <a:noFill/>
          <a:ln/>
        </p:spPr>
        <p:txBody>
          <a:bodyPr wrap="square" lIns="0" tIns="0" rIns="0" bIns="0" rtlCol="0" anchor="t"/>
          <a:lstStyle/>
          <a:p>
            <a:pPr indent="0" marL="0">
              <a:buNone/>
            </a:pPr>
            <a:r>
              <a:rPr lang="en-US" sz="1400" b="1" dirty="0">
                <a:solidFill>
                  <a:schemeClr val="tx1"/>
                </a:solidFill>
              </a:rPr>
              <a:t>Ollama, on this machine</a:t>
            </a:r>
            <a:endParaRPr lang="en-US" sz="1400" dirty="0"/>
          </a:p>
          <a:p>
            <a:pPr indent="0" marL="0">
              <a:buNone/>
            </a:pPr>
            <a:r>
              <a:rPr lang="en-US" sz="1100" dirty="0">
                <a:solidFill>
                  <a:schemeClr val="tx2"/>
                </a:solidFill>
              </a:rPr>
              <a:t>qwen2.5:3b reads the prompt and our two tool definitions.</a:t>
            </a:r>
            <a:endParaRPr lang="en-US" sz="1400" dirty="0"/>
          </a:p>
        </p:txBody>
      </p:sp>
      <p:sp>
        <p:nvSpPr>
          <p:cNvPr id="9" name="MySQL box"/>
          <p:cNvSpPr/>
          <p:nvPr/>
        </p:nvSpPr>
        <p:spPr>
          <a:xfrm>
            <a:off x="5852160" y="2148840"/>
            <a:ext cx="2834640" cy="868680"/>
          </a:xfrm>
          <a:prstGeom prst="rect">
            <a:avLst/>
          </a:prstGeom>
          <a:solidFill>
            <a:schemeClr val="accent6"/>
          </a:solidFill>
          <a:ln w="9525">
            <a:solidFill>
              <a:schemeClr val="tx2"/>
            </a:solidFill>
            <a:prstDash val="solid"/>
          </a:ln>
        </p:spPr>
      </p:sp>
      <p:sp>
        <p:nvSpPr>
          <p:cNvPr id="10" name="MySQL text"/>
          <p:cNvSpPr txBox="1"/>
          <p:nvPr/>
        </p:nvSpPr>
        <p:spPr>
          <a:xfrm>
            <a:off x="5961888" y="2221992"/>
            <a:ext cx="2615184" cy="722376"/>
          </a:xfrm>
          <a:prstGeom prst="rect">
            <a:avLst/>
          </a:prstGeom>
          <a:noFill/>
          <a:ln/>
        </p:spPr>
        <p:txBody>
          <a:bodyPr wrap="square" lIns="0" tIns="0" rIns="0" bIns="0" rtlCol="0" anchor="t"/>
          <a:lstStyle/>
          <a:p>
            <a:pPr indent="0" marL="0">
              <a:buNone/>
            </a:pPr>
            <a:r>
              <a:rPr lang="en-US" sz="1400" b="1" dirty="0">
                <a:solidFill>
                  <a:schemeClr val="tx1"/>
                </a:solidFill>
              </a:rPr>
              <a:t>MySQL tools</a:t>
            </a:r>
            <a:endParaRPr lang="en-US" sz="1400" dirty="0"/>
          </a:p>
          <a:p>
            <a:pPr indent="0" marL="0">
              <a:buNone/>
            </a:pPr>
            <a:r>
              <a:rPr lang="en-US" sz="1100" dirty="0">
                <a:solidFill>
                  <a:schemeClr val="tx2"/>
                </a:solidFill>
              </a:rPr>
              <a:t>search_fleet, check_availability: parameterised SELECTs and fn_car_available.</a:t>
            </a:r>
            <a:endParaRPr lang="en-US" sz="1400" dirty="0"/>
          </a:p>
        </p:txBody>
      </p:sp>
      <p:sp>
        <p:nvSpPr>
          <p:cNvPr id="11" name="Widget to route"/>
          <p:cNvSpPr/>
          <p:nvPr/>
        </p:nvSpPr>
        <p:spPr>
          <a:xfrm>
            <a:off x="2286000" y="2011680"/>
            <a:ext cx="640080" cy="0"/>
          </a:xfrm>
          <a:prstGeom prst="line">
            <a:avLst/>
          </a:prstGeom>
          <a:noFill/>
          <a:ln w="25400">
            <a:solidFill>
              <a:schemeClr val="accent1"/>
            </a:solidFill>
            <a:prstDash val="solid"/>
            <a:headEnd type="triangle"/>
            <a:tailEnd type="triangle"/>
          </a:ln>
        </p:spPr>
      </p:sp>
      <p:sp>
        <p:nvSpPr>
          <p:cNvPr id="12" name="Route to Ollama"/>
          <p:cNvSpPr/>
          <p:nvPr/>
        </p:nvSpPr>
        <p:spPr>
          <a:xfrm flipV="1">
            <a:off x="5120640" y="1481328"/>
            <a:ext cx="731520" cy="301752"/>
          </a:xfrm>
          <a:prstGeom prst="line">
            <a:avLst/>
          </a:prstGeom>
          <a:noFill/>
          <a:ln w="25400">
            <a:solidFill>
              <a:schemeClr val="accent1"/>
            </a:solidFill>
            <a:prstDash val="solid"/>
            <a:headEnd type="triangle"/>
            <a:tailEnd type="triangle"/>
          </a:ln>
        </p:spPr>
      </p:sp>
      <p:sp>
        <p:nvSpPr>
          <p:cNvPr id="13" name="Route to MySQL"/>
          <p:cNvSpPr/>
          <p:nvPr/>
        </p:nvSpPr>
        <p:spPr>
          <a:xfrm>
            <a:off x="5120640" y="2240280"/>
            <a:ext cx="731520" cy="338328"/>
          </a:xfrm>
          <a:prstGeom prst="line">
            <a:avLst/>
          </a:prstGeom>
          <a:noFill/>
          <a:ln w="25400">
            <a:solidFill>
              <a:schemeClr val="accent1"/>
            </a:solidFill>
            <a:prstDash val="solid"/>
            <a:headEnd type="triangle"/>
            <a:tailEnd type="triangle"/>
          </a:ln>
        </p:spPr>
      </p:sp>
      <p:sp>
        <p:nvSpPr>
          <p:cNvPr id="14" name="Step 1 badge"/>
          <p:cNvSpPr/>
          <p:nvPr/>
        </p:nvSpPr>
        <p:spPr>
          <a:xfrm>
            <a:off x="457200" y="3291840"/>
            <a:ext cx="329184" cy="329184"/>
          </a:xfrm>
          <a:prstGeom prst="rect">
            <a:avLst/>
          </a:prstGeom>
          <a:solidFill>
            <a:schemeClr val="accent1"/>
          </a:solidFill>
          <a:ln/>
        </p:spPr>
      </p:sp>
      <p:sp>
        <p:nvSpPr>
          <p:cNvPr id="15" name="Step 1 number"/>
          <p:cNvSpPr txBox="1"/>
          <p:nvPr/>
        </p:nvSpPr>
        <p:spPr>
          <a:xfrm>
            <a:off x="457200" y="32918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6" name="Step 1 text"/>
          <p:cNvSpPr txBox="1"/>
          <p:nvPr/>
        </p:nvSpPr>
        <p:spPr>
          <a:xfrm>
            <a:off x="896112" y="3255264"/>
            <a:ext cx="2240280" cy="438912"/>
          </a:xfrm>
          <a:prstGeom prst="rect">
            <a:avLst/>
          </a:prstGeom>
          <a:noFill/>
          <a:ln/>
        </p:spPr>
        <p:txBody>
          <a:bodyPr wrap="square" lIns="0" tIns="0" rIns="0" bIns="0" rtlCol="0" anchor="ctr"/>
          <a:lstStyle/>
          <a:p>
            <a:pPr indent="0" marL="0">
              <a:buNone/>
            </a:pPr>
            <a:r>
              <a:rPr lang="en-US" sz="1200" dirty="0">
                <a:solidFill>
                  <a:schemeClr val="tx1"/>
                </a:solidFill>
              </a:rPr>
              <a:t>The visitor asks in plain words</a:t>
            </a:r>
            <a:endParaRPr lang="en-US" sz="1200" dirty="0"/>
          </a:p>
        </p:txBody>
      </p:sp>
      <p:sp>
        <p:nvSpPr>
          <p:cNvPr id="17" name="Step 2 badge"/>
          <p:cNvSpPr/>
          <p:nvPr/>
        </p:nvSpPr>
        <p:spPr>
          <a:xfrm>
            <a:off x="3246120" y="3291840"/>
            <a:ext cx="329184" cy="329184"/>
          </a:xfrm>
          <a:prstGeom prst="rect">
            <a:avLst/>
          </a:prstGeom>
          <a:solidFill>
            <a:schemeClr val="accent1"/>
          </a:solidFill>
          <a:ln/>
        </p:spPr>
      </p:sp>
      <p:sp>
        <p:nvSpPr>
          <p:cNvPr id="18" name="Step 2 number"/>
          <p:cNvSpPr txBox="1"/>
          <p:nvPr/>
        </p:nvSpPr>
        <p:spPr>
          <a:xfrm>
            <a:off x="3246120" y="32918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9" name="Step 2 text"/>
          <p:cNvSpPr txBox="1"/>
          <p:nvPr/>
        </p:nvSpPr>
        <p:spPr>
          <a:xfrm>
            <a:off x="3685032" y="3255264"/>
            <a:ext cx="2240280" cy="438912"/>
          </a:xfrm>
          <a:prstGeom prst="rect">
            <a:avLst/>
          </a:prstGeom>
          <a:noFill/>
          <a:ln/>
        </p:spPr>
        <p:txBody>
          <a:bodyPr wrap="square" lIns="0" tIns="0" rIns="0" bIns="0" rtlCol="0" anchor="ctr"/>
          <a:lstStyle/>
          <a:p>
            <a:pPr indent="0" marL="0">
              <a:buNone/>
            </a:pPr>
            <a:r>
              <a:rPr lang="en-US" sz="1200" dirty="0">
                <a:solidFill>
                  <a:schemeClr val="tx1"/>
                </a:solidFill>
              </a:rPr>
              <a:t>The route checks the chat and the rate limit</a:t>
            </a:r>
            <a:endParaRPr lang="en-US" sz="1200" dirty="0"/>
          </a:p>
        </p:txBody>
      </p:sp>
      <p:sp>
        <p:nvSpPr>
          <p:cNvPr id="20" name="Step 3 badge"/>
          <p:cNvSpPr/>
          <p:nvPr/>
        </p:nvSpPr>
        <p:spPr>
          <a:xfrm>
            <a:off x="6035040" y="3291840"/>
            <a:ext cx="329184" cy="329184"/>
          </a:xfrm>
          <a:prstGeom prst="rect">
            <a:avLst/>
          </a:prstGeom>
          <a:solidFill>
            <a:schemeClr val="accent1"/>
          </a:solidFill>
          <a:ln/>
        </p:spPr>
      </p:sp>
      <p:sp>
        <p:nvSpPr>
          <p:cNvPr id="21" name="Step 3 number"/>
          <p:cNvSpPr txBox="1"/>
          <p:nvPr/>
        </p:nvSpPr>
        <p:spPr>
          <a:xfrm>
            <a:off x="6035040" y="329184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2" name="Step 3 text"/>
          <p:cNvSpPr txBox="1"/>
          <p:nvPr/>
        </p:nvSpPr>
        <p:spPr>
          <a:xfrm>
            <a:off x="6473952" y="3255264"/>
            <a:ext cx="2240280" cy="438912"/>
          </a:xfrm>
          <a:prstGeom prst="rect">
            <a:avLst/>
          </a:prstGeom>
          <a:noFill/>
          <a:ln/>
        </p:spPr>
        <p:txBody>
          <a:bodyPr wrap="square" lIns="0" tIns="0" rIns="0" bIns="0" rtlCol="0" anchor="ctr"/>
          <a:lstStyle/>
          <a:p>
            <a:pPr indent="0" marL="0">
              <a:buNone/>
            </a:pPr>
            <a:r>
              <a:rPr lang="en-US" sz="1200" dirty="0">
                <a:solidFill>
                  <a:schemeClr val="tx1"/>
                </a:solidFill>
              </a:rPr>
              <a:t>The model answers with a tool call</a:t>
            </a:r>
            <a:endParaRPr lang="en-US" sz="1200" dirty="0"/>
          </a:p>
        </p:txBody>
      </p:sp>
      <p:sp>
        <p:nvSpPr>
          <p:cNvPr id="23" name="Step 4 badge"/>
          <p:cNvSpPr/>
          <p:nvPr/>
        </p:nvSpPr>
        <p:spPr>
          <a:xfrm>
            <a:off x="457200" y="3886200"/>
            <a:ext cx="329184" cy="329184"/>
          </a:xfrm>
          <a:prstGeom prst="rect">
            <a:avLst/>
          </a:prstGeom>
          <a:solidFill>
            <a:schemeClr val="accent1"/>
          </a:solidFill>
          <a:ln/>
        </p:spPr>
      </p:sp>
      <p:sp>
        <p:nvSpPr>
          <p:cNvPr id="24" name="Step 4 number"/>
          <p:cNvSpPr txBox="1"/>
          <p:nvPr/>
        </p:nvSpPr>
        <p:spPr>
          <a:xfrm>
            <a:off x="457200" y="388620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5" name="Step 4 text"/>
          <p:cNvSpPr txBox="1"/>
          <p:nvPr/>
        </p:nvSpPr>
        <p:spPr>
          <a:xfrm>
            <a:off x="896112" y="3849624"/>
            <a:ext cx="2240280" cy="438912"/>
          </a:xfrm>
          <a:prstGeom prst="rect">
            <a:avLst/>
          </a:prstGeom>
          <a:noFill/>
          <a:ln/>
        </p:spPr>
        <p:txBody>
          <a:bodyPr wrap="square" lIns="0" tIns="0" rIns="0" bIns="0" rtlCol="0" anchor="ctr"/>
          <a:lstStyle/>
          <a:p>
            <a:pPr indent="0" marL="0">
              <a:buNone/>
            </a:pPr>
            <a:r>
              <a:rPr lang="en-US" sz="1200" dirty="0">
                <a:solidFill>
                  <a:schemeClr val="tx1"/>
                </a:solidFill>
              </a:rPr>
              <a:t>The route runs that tool on MySQL</a:t>
            </a:r>
            <a:endParaRPr lang="en-US" sz="1200" dirty="0"/>
          </a:p>
        </p:txBody>
      </p:sp>
      <p:sp>
        <p:nvSpPr>
          <p:cNvPr id="26" name="Step 5 badge"/>
          <p:cNvSpPr/>
          <p:nvPr/>
        </p:nvSpPr>
        <p:spPr>
          <a:xfrm>
            <a:off x="3246120" y="3886200"/>
            <a:ext cx="329184" cy="329184"/>
          </a:xfrm>
          <a:prstGeom prst="rect">
            <a:avLst/>
          </a:prstGeom>
          <a:solidFill>
            <a:schemeClr val="accent1"/>
          </a:solidFill>
          <a:ln/>
        </p:spPr>
      </p:sp>
      <p:sp>
        <p:nvSpPr>
          <p:cNvPr id="27" name="Step 5 number"/>
          <p:cNvSpPr txBox="1"/>
          <p:nvPr/>
        </p:nvSpPr>
        <p:spPr>
          <a:xfrm>
            <a:off x="3246120" y="388620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8" name="Step 5 text"/>
          <p:cNvSpPr txBox="1"/>
          <p:nvPr/>
        </p:nvSpPr>
        <p:spPr>
          <a:xfrm>
            <a:off x="3685032" y="3849624"/>
            <a:ext cx="2240280" cy="438912"/>
          </a:xfrm>
          <a:prstGeom prst="rect">
            <a:avLst/>
          </a:prstGeom>
          <a:noFill/>
          <a:ln/>
        </p:spPr>
        <p:txBody>
          <a:bodyPr wrap="square" lIns="0" tIns="0" rIns="0" bIns="0" rtlCol="0" anchor="ctr"/>
          <a:lstStyle/>
          <a:p>
            <a:pPr indent="0" marL="0">
              <a:buNone/>
            </a:pPr>
            <a:r>
              <a:rPr lang="en-US" sz="1200" dirty="0">
                <a:solidFill>
                  <a:schemeClr val="tx1"/>
                </a:solidFill>
              </a:rPr>
              <a:t>Rows go back; the server checks the draft</a:t>
            </a:r>
            <a:endParaRPr lang="en-US" sz="1200" dirty="0"/>
          </a:p>
        </p:txBody>
      </p:sp>
      <p:sp>
        <p:nvSpPr>
          <p:cNvPr id="29" name="Step 6 badge"/>
          <p:cNvSpPr/>
          <p:nvPr/>
        </p:nvSpPr>
        <p:spPr>
          <a:xfrm>
            <a:off x="6035040" y="3886200"/>
            <a:ext cx="329184" cy="329184"/>
          </a:xfrm>
          <a:prstGeom prst="rect">
            <a:avLst/>
          </a:prstGeom>
          <a:solidFill>
            <a:schemeClr val="accent1"/>
          </a:solidFill>
          <a:ln/>
        </p:spPr>
      </p:sp>
      <p:sp>
        <p:nvSpPr>
          <p:cNvPr id="30" name="Step 6 number"/>
          <p:cNvSpPr txBox="1"/>
          <p:nvPr/>
        </p:nvSpPr>
        <p:spPr>
          <a:xfrm>
            <a:off x="6035040" y="388620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1" name="Step 6 text"/>
          <p:cNvSpPr txBox="1"/>
          <p:nvPr/>
        </p:nvSpPr>
        <p:spPr>
          <a:xfrm>
            <a:off x="6473952" y="3849624"/>
            <a:ext cx="2240280" cy="438912"/>
          </a:xfrm>
          <a:prstGeom prst="rect">
            <a:avLst/>
          </a:prstGeom>
          <a:noFill/>
          <a:ln/>
        </p:spPr>
        <p:txBody>
          <a:bodyPr wrap="square" lIns="0" tIns="0" rIns="0" bIns="0" rtlCol="0" anchor="ctr"/>
          <a:lstStyle/>
          <a:p>
            <a:pPr indent="0" marL="0">
              <a:buNone/>
            </a:pPr>
            <a:r>
              <a:rPr lang="en-US" sz="1200" dirty="0">
                <a:solidFill>
                  <a:schemeClr val="tx1"/>
                </a:solidFill>
              </a:rPr>
              <a:t>Only checked replies and real cars reach the page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Ollama and tool calling, explained</a:t>
            </a:r>
            <a:endParaRPr lang="en-US" sz="3200" dirty="0"/>
          </a:p>
        </p:txBody>
      </p:sp>
      <p:sp>
        <p:nvSpPr>
          <p:cNvPr id="3" name="What Ollama is heading"/>
          <p:cNvSpPr txBox="1"/>
          <p:nvPr/>
        </p:nvSpPr>
        <p:spPr>
          <a:xfrm>
            <a:off x="457200" y="1143000"/>
            <a:ext cx="3840480" cy="292608"/>
          </a:xfrm>
          <a:prstGeom prst="rect">
            <a:avLst/>
          </a:prstGeom>
          <a:noFill/>
          <a:ln/>
        </p:spPr>
        <p:txBody>
          <a:bodyPr wrap="square" lIns="0" tIns="0" rIns="0" bIns="0" rtlCol="0" anchor="ctr"/>
          <a:lstStyle/>
          <a:p>
            <a:pPr indent="0" marL="0">
              <a:buNone/>
            </a:pPr>
            <a:r>
              <a:rPr lang="en-US" sz="1500" b="1" dirty="0">
                <a:solidFill>
                  <a:schemeClr val="accent2"/>
                </a:solidFill>
              </a:rPr>
              <a:t>What Ollama is</a:t>
            </a:r>
            <a:endParaRPr lang="en-US" sz="1500" dirty="0"/>
          </a:p>
        </p:txBody>
      </p:sp>
      <p:sp>
        <p:nvSpPr>
          <p:cNvPr id="4" name="What Ollama is text"/>
          <p:cNvSpPr txBox="1"/>
          <p:nvPr/>
        </p:nvSpPr>
        <p:spPr>
          <a:xfrm>
            <a:off x="457200" y="1453896"/>
            <a:ext cx="3840480" cy="786384"/>
          </a:xfrm>
          <a:prstGeom prst="rect">
            <a:avLst/>
          </a:prstGeom>
          <a:noFill/>
          <a:ln/>
        </p:spPr>
        <p:txBody>
          <a:bodyPr wrap="square" lIns="0" tIns="0" rIns="0" bIns="0" rtlCol="0" anchor="t"/>
          <a:lstStyle/>
          <a:p>
            <a:pPr indent="0" marL="0">
              <a:buNone/>
            </a:pPr>
            <a:r>
              <a:rPr lang="en-US" sz="1250" dirty="0">
                <a:solidFill>
                  <a:schemeClr val="tx1"/>
                </a:solidFill>
              </a:rPr>
              <a:t>A free program that runs open models on our own machine, behind a local REST API. We use qwen2.5:3b (1.9 GB). It needs no API key or quota, and no data leaves the server.</a:t>
            </a:r>
            <a:endParaRPr lang="en-US" sz="1250" dirty="0"/>
          </a:p>
        </p:txBody>
      </p:sp>
      <p:sp>
        <p:nvSpPr>
          <p:cNvPr id="5" name="What tool calling adds heading"/>
          <p:cNvSpPr txBox="1"/>
          <p:nvPr/>
        </p:nvSpPr>
        <p:spPr>
          <a:xfrm>
            <a:off x="457200" y="2331720"/>
            <a:ext cx="3840480" cy="292608"/>
          </a:xfrm>
          <a:prstGeom prst="rect">
            <a:avLst/>
          </a:prstGeom>
          <a:noFill/>
          <a:ln/>
        </p:spPr>
        <p:txBody>
          <a:bodyPr wrap="square" lIns="0" tIns="0" rIns="0" bIns="0" rtlCol="0" anchor="ctr"/>
          <a:lstStyle/>
          <a:p>
            <a:pPr indent="0" marL="0">
              <a:buNone/>
            </a:pPr>
            <a:r>
              <a:rPr lang="en-US" sz="1500" b="1" dirty="0">
                <a:solidFill>
                  <a:schemeClr val="accent2"/>
                </a:solidFill>
              </a:rPr>
              <a:t>What tool calling adds</a:t>
            </a:r>
            <a:endParaRPr lang="en-US" sz="1500" dirty="0"/>
          </a:p>
        </p:txBody>
      </p:sp>
      <p:sp>
        <p:nvSpPr>
          <p:cNvPr id="6" name="What tool calling adds text"/>
          <p:cNvSpPr txBox="1"/>
          <p:nvPr/>
        </p:nvSpPr>
        <p:spPr>
          <a:xfrm>
            <a:off x="457200" y="2642616"/>
            <a:ext cx="3840480" cy="786384"/>
          </a:xfrm>
          <a:prstGeom prst="rect">
            <a:avLst/>
          </a:prstGeom>
          <a:noFill/>
          <a:ln/>
        </p:spPr>
        <p:txBody>
          <a:bodyPr wrap="square" lIns="0" tIns="0" rIns="0" bIns="0" rtlCol="0" anchor="t"/>
          <a:lstStyle/>
          <a:p>
            <a:pPr indent="0" marL="0">
              <a:buNone/>
            </a:pPr>
            <a:r>
              <a:rPr lang="en-US" sz="1250" dirty="0">
                <a:solidFill>
                  <a:schemeClr val="tx1"/>
                </a:solidFill>
              </a:rPr>
              <a:t>We describe two tools in JSON Schema. When the model needs facts it returns tool_calls (a name and arguments) instead of text. Our server runs the tool and sends back a tool message with the rows.</a:t>
            </a:r>
            <a:endParaRPr lang="en-US" sz="1250" dirty="0"/>
          </a:p>
        </p:txBody>
      </p:sp>
      <p:sp>
        <p:nvSpPr>
          <p:cNvPr id="7" name="Why the server checks its answers heading"/>
          <p:cNvSpPr txBox="1"/>
          <p:nvPr/>
        </p:nvSpPr>
        <p:spPr>
          <a:xfrm>
            <a:off x="457200" y="3493008"/>
            <a:ext cx="3840480" cy="292608"/>
          </a:xfrm>
          <a:prstGeom prst="rect">
            <a:avLst/>
          </a:prstGeom>
          <a:noFill/>
          <a:ln/>
        </p:spPr>
        <p:txBody>
          <a:bodyPr wrap="square" lIns="0" tIns="0" rIns="0" bIns="0" rtlCol="0" anchor="ctr"/>
          <a:lstStyle/>
          <a:p>
            <a:pPr indent="0" marL="0">
              <a:buNone/>
            </a:pPr>
            <a:r>
              <a:rPr lang="en-US" sz="1500" b="1" dirty="0">
                <a:solidFill>
                  <a:schemeClr val="accent2"/>
                </a:solidFill>
              </a:rPr>
              <a:t>Why the server checks its answers</a:t>
            </a:r>
            <a:endParaRPr lang="en-US" sz="1500" dirty="0"/>
          </a:p>
        </p:txBody>
      </p:sp>
      <p:sp>
        <p:nvSpPr>
          <p:cNvPr id="8" name="Why the server checks its answers text"/>
          <p:cNvSpPr txBox="1"/>
          <p:nvPr/>
        </p:nvSpPr>
        <p:spPr>
          <a:xfrm>
            <a:off x="457200" y="3803904"/>
            <a:ext cx="3840480" cy="786384"/>
          </a:xfrm>
          <a:prstGeom prst="rect">
            <a:avLst/>
          </a:prstGeom>
          <a:noFill/>
          <a:ln/>
        </p:spPr>
        <p:txBody>
          <a:bodyPr wrap="square" lIns="0" tIns="0" rIns="0" bIns="0" rtlCol="0" anchor="t"/>
          <a:lstStyle/>
          <a:p>
            <a:pPr indent="0" marL="0">
              <a:buNone/>
            </a:pPr>
            <a:r>
              <a:rPr lang="en-US" sz="1250" dirty="0">
                <a:solidFill>
                  <a:schemeClr val="tx1"/>
                </a:solidFill>
              </a:rPr>
              <a:t>A 3B model will invent cars and prices if it can. The server sends back any draft that names a car before searching, or quotes a price no tool returned.</a:t>
            </a:r>
            <a:endParaRPr lang="en-US" sz="1250" dirty="0"/>
          </a:p>
        </p:txBody>
      </p:sp>
      <p:sp>
        <p:nvSpPr>
          <p:cNvPr id="9" name="Code card"/>
          <p:cNvSpPr/>
          <p:nvPr/>
        </p:nvSpPr>
        <p:spPr>
          <a:xfrm>
            <a:off x="4572000" y="1143000"/>
            <a:ext cx="4114800" cy="3429000"/>
          </a:xfrm>
          <a:prstGeom prst="rect">
            <a:avLst/>
          </a:prstGeom>
          <a:solidFill>
            <a:schemeClr val="tx1"/>
          </a:solidFill>
          <a:ln/>
        </p:spPr>
      </p:sp>
      <p:sp>
        <p:nvSpPr>
          <p:cNvPr id="10" name="Code caption"/>
          <p:cNvSpPr txBox="1"/>
          <p:nvPr/>
        </p:nvSpPr>
        <p:spPr>
          <a:xfrm>
            <a:off x="4754880" y="1234440"/>
            <a:ext cx="3749040" cy="274320"/>
          </a:xfrm>
          <a:prstGeom prst="rect">
            <a:avLst/>
          </a:prstGeom>
          <a:noFill/>
          <a:ln/>
        </p:spPr>
        <p:txBody>
          <a:bodyPr wrap="square" lIns="0" tIns="0" rIns="0" bIns="0" rtlCol="0" anchor="ctr"/>
          <a:lstStyle/>
          <a:p>
            <a:pPr indent="0" marL="0">
              <a:buNone/>
            </a:pPr>
            <a:r>
              <a:rPr lang="en-US" sz="1000" dirty="0">
                <a:solidFill>
                  <a:schemeClr val="accent3"/>
                </a:solidFill>
              </a:rPr>
              <a:t>lib/advisor/run.ts, simplified</a:t>
            </a:r>
            <a:endParaRPr lang="en-US" sz="1000" dirty="0"/>
          </a:p>
        </p:txBody>
      </p:sp>
      <p:sp>
        <p:nvSpPr>
          <p:cNvPr id="11" name="Code"/>
          <p:cNvSpPr txBox="1"/>
          <p:nvPr/>
        </p:nvSpPr>
        <p:spPr>
          <a:xfrm>
            <a:off x="4754880" y="1554480"/>
            <a:ext cx="3794760" cy="2926080"/>
          </a:xfrm>
          <a:prstGeom prst="rect">
            <a:avLst/>
          </a:prstGeom>
          <a:noFill/>
          <a:ln/>
        </p:spPr>
        <p:txBody>
          <a:bodyPr wrap="square" lIns="0" tIns="0" rIns="0" bIns="0" rtlCol="0" anchor="t"/>
          <a:lstStyle/>
          <a:p>
            <a:pPr indent="0" marL="0">
              <a:buNone/>
            </a:pPr>
            <a:r>
              <a:rPr lang="en-US" sz="1050" dirty="0">
                <a:solidFill>
                  <a:schemeClr val="accent4"/>
                </a:solidFill>
                <a:latin typeface="Courier New" pitchFamily="34" charset="0"/>
                <a:ea typeface="Courier New" pitchFamily="34" charset="-122"/>
                <a:cs typeface="Courier New" pitchFamily="34" charset="-120"/>
              </a:rPr>
              <a:t>const res = await fetch(</a:t>
            </a:r>
            <a:endParaRPr lang="en-US" sz="1050" dirty="0"/>
          </a:p>
          <a:p>
            <a:pPr indent="0" marL="0">
              <a:buNone/>
            </a:pPr>
            <a:r>
              <a:rPr lang="en-US" sz="1050" dirty="0">
                <a:solidFill>
                  <a:schemeClr val="accent4"/>
                </a:solidFill>
                <a:latin typeface="Courier New" pitchFamily="34" charset="0"/>
                <a:ea typeface="Courier New" pitchFamily="34" charset="-122"/>
                <a:cs typeface="Courier New" pitchFamily="34" charset="-120"/>
              </a:rPr>
              <a:t>  `${OLLAMA_HOST}/api/chat`, {</a:t>
            </a:r>
            <a:endParaRPr lang="en-US" sz="1050" dirty="0"/>
          </a:p>
          <a:p>
            <a:pPr indent="0" marL="0">
              <a:buNone/>
            </a:pPr>
            <a:r>
              <a:rPr lang="en-US" sz="1050" dirty="0">
                <a:solidFill>
                  <a:schemeClr val="accent4"/>
                </a:solidFill>
                <a:latin typeface="Courier New" pitchFamily="34" charset="0"/>
                <a:ea typeface="Courier New" pitchFamily="34" charset="-122"/>
                <a:cs typeface="Courier New" pitchFamily="34" charset="-120"/>
              </a:rPr>
              <a:t>  method: 'POST',</a:t>
            </a:r>
            <a:endParaRPr lang="en-US" sz="1050" dirty="0"/>
          </a:p>
          <a:p>
            <a:pPr indent="0" marL="0">
              <a:buNone/>
            </a:pPr>
            <a:r>
              <a:rPr lang="en-US" sz="1050" dirty="0">
                <a:solidFill>
                  <a:schemeClr val="accent4"/>
                </a:solidFill>
                <a:latin typeface="Courier New" pitchFamily="34" charset="0"/>
                <a:ea typeface="Courier New" pitchFamily="34" charset="-122"/>
                <a:cs typeface="Courier New" pitchFamily="34" charset="-120"/>
              </a:rPr>
              <a:t>  body: JSON.stringify({</a:t>
            </a:r>
            <a:endParaRPr lang="en-US" sz="1050" dirty="0"/>
          </a:p>
          <a:p>
            <a:pPr indent="0" marL="0">
              <a:buNone/>
            </a:pPr>
            <a:r>
              <a:rPr lang="en-US" sz="1050" dirty="0">
                <a:solidFill>
                  <a:schemeClr val="accent4"/>
                </a:solidFill>
                <a:latin typeface="Courier New" pitchFamily="34" charset="0"/>
                <a:ea typeface="Courier New" pitchFamily="34" charset="-122"/>
                <a:cs typeface="Courier New" pitchFamily="34" charset="-120"/>
              </a:rPr>
              <a:t>    model: 'qwen2.5:3b',</a:t>
            </a:r>
            <a:endParaRPr lang="en-US" sz="1050" dirty="0"/>
          </a:p>
          <a:p>
            <a:pPr indent="0" marL="0">
              <a:buNone/>
            </a:pPr>
            <a:r>
              <a:rPr lang="en-US" sz="1050" dirty="0">
                <a:solidFill>
                  <a:schemeClr val="accent4"/>
                </a:solidFill>
                <a:latin typeface="Courier New" pitchFamily="34" charset="0"/>
                <a:ea typeface="Courier New" pitchFamily="34" charset="-122"/>
                <a:cs typeface="Courier New" pitchFamily="34" charset="-120"/>
              </a:rPr>
              <a:t>    messages,        // system + the chat</a:t>
            </a:r>
            <a:endParaRPr lang="en-US" sz="1050" dirty="0"/>
          </a:p>
          <a:p>
            <a:pPr indent="0" marL="0">
              <a:buNone/>
            </a:pPr>
            <a:r>
              <a:rPr lang="en-US" sz="1050" dirty="0">
                <a:solidFill>
                  <a:schemeClr val="accent4"/>
                </a:solidFill>
                <a:latin typeface="Courier New" pitchFamily="34" charset="0"/>
                <a:ea typeface="Courier New" pitchFamily="34" charset="-122"/>
                <a:cs typeface="Courier New" pitchFamily="34" charset="-120"/>
              </a:rPr>
              <a:t>    tools: ADVISOR_TOOLS,</a:t>
            </a:r>
            <a:endParaRPr lang="en-US" sz="1050" dirty="0"/>
          </a:p>
          <a:p>
            <a:pPr indent="0" marL="0">
              <a:buNone/>
            </a:pPr>
            <a:r>
              <a:rPr lang="en-US" sz="1050" dirty="0">
                <a:solidFill>
                  <a:schemeClr val="accent4"/>
                </a:solidFill>
                <a:latin typeface="Courier New" pitchFamily="34" charset="0"/>
                <a:ea typeface="Courier New" pitchFamily="34" charset="-122"/>
                <a:cs typeface="Courier New" pitchFamily="34" charset="-120"/>
              </a:rPr>
              <a:t>    stream: false,</a:t>
            </a:r>
            <a:endParaRPr lang="en-US" sz="1050" dirty="0"/>
          </a:p>
          <a:p>
            <a:pPr indent="0" marL="0">
              <a:buNone/>
            </a:pPr>
            <a:r>
              <a:rPr lang="en-US" sz="1050" dirty="0">
                <a:solidFill>
                  <a:schemeClr val="accent4"/>
                </a:solidFill>
                <a:latin typeface="Courier New" pitchFamily="34" charset="0"/>
                <a:ea typeface="Courier New" pitchFamily="34" charset="-122"/>
                <a:cs typeface="Courier New" pitchFamily="34" charset="-120"/>
              </a:rPr>
              <a:t>    options: { temperature: 0.2 },</a:t>
            </a:r>
            <a:endParaRPr lang="en-US" sz="1050" dirty="0"/>
          </a:p>
          <a:p>
            <a:pPr indent="0" marL="0">
              <a:buNone/>
            </a:pPr>
            <a:r>
              <a:rPr lang="en-US" sz="1050" dirty="0">
                <a:solidFill>
                  <a:schemeClr val="accent4"/>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accent4"/>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accent4"/>
                </a:solidFill>
                <a:latin typeface="Courier New" pitchFamily="34" charset="0"/>
                <a:ea typeface="Courier New" pitchFamily="34" charset="-122"/>
                <a:cs typeface="Courier New" pitchFamily="34" charset="-120"/>
              </a:rPr>
              <a:t>const { message } = await res.json();</a:t>
            </a:r>
            <a:endParaRPr lang="en-US" sz="1050" dirty="0"/>
          </a:p>
          <a:p>
            <a:pPr indent="0" marL="0">
              <a:buNone/>
            </a:pPr>
            <a:endParaRPr lang="en-US" sz="1050" dirty="0"/>
          </a:p>
          <a:p>
            <a:pPr indent="0" marL="0">
              <a:buNone/>
            </a:pPr>
            <a:r>
              <a:rPr lang="en-US" sz="1050" dirty="0">
                <a:solidFill>
                  <a:schemeClr val="accent4"/>
                </a:solidFill>
                <a:latin typeface="Courier New" pitchFamily="34" charset="0"/>
                <a:ea typeface="Courier New" pitchFamily="34" charset="-122"/>
                <a:cs typeface="Courier New" pitchFamily="34" charset="-120"/>
              </a:rPr>
              <a:t>for (const call of message.tool_calls ?? [])</a:t>
            </a:r>
            <a:endParaRPr lang="en-US" sz="1050" dirty="0"/>
          </a:p>
          <a:p>
            <a:pPr indent="0" marL="0">
              <a:buNone/>
            </a:pPr>
            <a:r>
              <a:rPr lang="en-US" sz="1050" dirty="0">
                <a:solidFill>
                  <a:schemeClr val="accent4"/>
                </a:solidFill>
                <a:latin typeface="Courier New" pitchFamily="34" charset="0"/>
                <a:ea typeface="Courier New" pitchFamily="34" charset="-122"/>
                <a:cs typeface="Courier New" pitchFamily="34" charset="-120"/>
              </a:rPr>
              <a:t>  messages.push({ role: 'tool', content:</a:t>
            </a:r>
            <a:endParaRPr lang="en-US" sz="1050" dirty="0"/>
          </a:p>
          <a:p>
            <a:pPr indent="0" marL="0">
              <a:buNone/>
            </a:pPr>
            <a:r>
              <a:rPr lang="en-US" sz="1050" dirty="0">
                <a:solidFill>
                  <a:schemeClr val="accent4"/>
                </a:solidFill>
                <a:latin typeface="Courier New" pitchFamily="34" charset="0"/>
                <a:ea typeface="Courier New" pitchFamily="34" charset="-122"/>
                <a:cs typeface="Courier New" pitchFamily="34" charset="-120"/>
              </a:rPr>
              <a:t>    JSON.stringify(await runTool(call)) });</a:t>
            </a:r>
            <a:endParaRPr lang="en-US" sz="10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The model never writes SQL</a:t>
            </a:r>
            <a:endParaRPr lang="en-US" sz="3200" dirty="0"/>
          </a:p>
        </p:txBody>
      </p:sp>
      <p:sp>
        <p:nvSpPr>
          <p:cNvPr id="3" name="Real output card"/>
          <p:cNvSpPr/>
          <p:nvPr/>
        </p:nvSpPr>
        <p:spPr>
          <a:xfrm>
            <a:off x="457200" y="1143000"/>
            <a:ext cx="4297680" cy="3429000"/>
          </a:xfrm>
          <a:prstGeom prst="rect">
            <a:avLst/>
          </a:prstGeom>
          <a:solidFill>
            <a:schemeClr val="tx1"/>
          </a:solidFill>
          <a:ln/>
        </p:spPr>
      </p:sp>
      <p:sp>
        <p:nvSpPr>
          <p:cNvPr id="4" name="Real output caption"/>
          <p:cNvSpPr txBox="1"/>
          <p:nvPr/>
        </p:nvSpPr>
        <p:spPr>
          <a:xfrm>
            <a:off x="640080" y="1234440"/>
            <a:ext cx="3931920" cy="274320"/>
          </a:xfrm>
          <a:prstGeom prst="rect">
            <a:avLst/>
          </a:prstGeom>
          <a:noFill/>
          <a:ln/>
        </p:spPr>
        <p:txBody>
          <a:bodyPr wrap="square" lIns="0" tIns="0" rIns="0" bIns="0" rtlCol="0" anchor="ctr"/>
          <a:lstStyle/>
          <a:p>
            <a:pPr indent="0" marL="0">
              <a:buNone/>
            </a:pPr>
            <a:r>
              <a:rPr lang="en-US" sz="1000" dirty="0">
                <a:solidFill>
                  <a:schemeClr val="accent3"/>
                </a:solidFill>
              </a:rPr>
              <a:t>Real calls, run against the seeded MySQL database</a:t>
            </a:r>
            <a:endParaRPr lang="en-US" sz="1000" dirty="0"/>
          </a:p>
        </p:txBody>
      </p:sp>
      <p:sp>
        <p:nvSpPr>
          <p:cNvPr id="5" name="Real output"/>
          <p:cNvSpPr txBox="1"/>
          <p:nvPr/>
        </p:nvSpPr>
        <p:spPr>
          <a:xfrm>
            <a:off x="640080" y="1572768"/>
            <a:ext cx="3977640" cy="2926080"/>
          </a:xfrm>
          <a:prstGeom prst="rect">
            <a:avLst/>
          </a:prstGeom>
          <a:noFill/>
          <a:ln/>
        </p:spPr>
        <p:txBody>
          <a:bodyPr wrap="square" lIns="0" tIns="0" rIns="0" bIns="0" rtlCol="0" anchor="t"/>
          <a:lstStyle/>
          <a:p>
            <a:pPr indent="0" marL="0">
              <a:buNone/>
            </a:pPr>
            <a:r>
              <a:rPr lang="en-US" sz="1000" b="1" dirty="0">
                <a:solidFill>
                  <a:schemeClr val="accent3"/>
                </a:solidFill>
                <a:latin typeface="Courier New" pitchFamily="34" charset="0"/>
                <a:ea typeface="Courier New" pitchFamily="34" charset="-122"/>
                <a:cs typeface="Courier New" pitchFamily="34" charset="-120"/>
              </a:rPr>
              <a:t>tool call  search_fleet</a:t>
            </a:r>
            <a:endParaRPr lang="en-US" sz="1000" dirty="0"/>
          </a:p>
          <a:p>
            <a:pPr indent="0" marL="0">
              <a:buNone/>
            </a:pPr>
            <a:r>
              <a:rPr lang="en-US" sz="1000" dirty="0">
                <a:solidFill>
                  <a:schemeClr val="accent4"/>
                </a:solidFill>
                <a:latin typeface="Courier New" pitchFamily="34" charset="0"/>
                <a:ea typeface="Courier New" pitchFamily="34" charset="-122"/>
                <a:cs typeface="Courier New" pitchFamily="34" charset="-120"/>
              </a:rPr>
              <a:t>{ "seats_min": 5, "transmission": "automatic",</a:t>
            </a:r>
            <a:endParaRPr lang="en-US" sz="1000" dirty="0"/>
          </a:p>
          <a:p>
            <a:pPr indent="0" marL="0">
              <a:buNone/>
            </a:pPr>
            <a:r>
              <a:rPr lang="en-US" sz="1000" dirty="0">
                <a:solidFill>
                  <a:schemeClr val="accent4"/>
                </a:solidFill>
                <a:latin typeface="Courier New" pitchFamily="34" charset="0"/>
                <a:ea typeface="Courier New" pitchFamily="34" charset="-122"/>
                <a:cs typeface="Courier New" pitchFamily="34" charset="-120"/>
              </a:rPr>
              <a:t>  "sort": "price_asc" }</a:t>
            </a:r>
            <a:endParaRPr lang="en-US" sz="1000" dirty="0"/>
          </a:p>
          <a:p>
            <a:pPr indent="0" marL="0">
              <a:buNone/>
            </a:pPr>
            <a:r>
              <a:rPr lang="en-US" sz="500" dirty="0">
                <a:solidFill>
                  <a:schemeClr val="accent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chemeClr val="accent3"/>
                </a:solidFill>
                <a:latin typeface="Courier New" pitchFamily="34" charset="0"/>
                <a:ea typeface="Courier New" pitchFamily="34" charset="-122"/>
                <a:cs typeface="Courier New" pitchFamily="34" charset="-120"/>
              </a:rPr>
              <a:t>tool result  5 rows, first two:</a:t>
            </a:r>
            <a:endParaRPr lang="en-US" sz="1000" dirty="0"/>
          </a:p>
          <a:p>
            <a:pPr indent="0" marL="0">
              <a:buNone/>
            </a:pPr>
            <a:r>
              <a:rPr lang="en-US" sz="1000" dirty="0">
                <a:solidFill>
                  <a:schemeClr val="accent4"/>
                </a:solidFill>
                <a:latin typeface="Courier New" pitchFamily="34" charset="0"/>
                <a:ea typeface="Courier New" pitchFamily="34" charset="-122"/>
                <a:cs typeface="Courier New" pitchFamily="34" charset="-120"/>
              </a:rPr>
              <a:t>{ "id": 5, "model": "City ZX", "seats": 5,</a:t>
            </a:r>
            <a:endParaRPr lang="en-US" sz="1000" dirty="0"/>
          </a:p>
          <a:p>
            <a:pPr indent="0" marL="0">
              <a:buNone/>
            </a:pPr>
            <a:r>
              <a:rPr lang="en-US" sz="1000" dirty="0">
                <a:solidFill>
                  <a:schemeClr val="accent4"/>
                </a:solidFill>
                <a:latin typeface="Courier New" pitchFamily="34" charset="0"/>
                <a:ea typeface="Courier New" pitchFamily="34" charset="-122"/>
                <a:cs typeface="Courier New" pitchFamily="34" charset="-120"/>
              </a:rPr>
              <a:t>  "rupees_per_day": 2400,</a:t>
            </a:r>
            <a:endParaRPr lang="en-US" sz="1000" dirty="0"/>
          </a:p>
          <a:p>
            <a:pPr indent="0" marL="0">
              <a:buNone/>
            </a:pPr>
            <a:r>
              <a:rPr lang="en-US" sz="1000" dirty="0">
                <a:solidFill>
                  <a:schemeClr val="accent4"/>
                </a:solidFill>
                <a:latin typeface="Courier New" pitchFamily="34" charset="0"/>
                <a:ea typeface="Courier New" pitchFamily="34" charset="-122"/>
                <a:cs typeface="Courier New" pitchFamily="34" charset="-120"/>
              </a:rPr>
              <a:t>  "branch": "Jayanagar" }</a:t>
            </a:r>
            <a:endParaRPr lang="en-US" sz="1000" dirty="0"/>
          </a:p>
          <a:p>
            <a:pPr indent="0" marL="0">
              <a:buNone/>
            </a:pPr>
            <a:r>
              <a:rPr lang="en-US" sz="1000" dirty="0">
                <a:solidFill>
                  <a:schemeClr val="accent4"/>
                </a:solidFill>
                <a:latin typeface="Courier New" pitchFamily="34" charset="0"/>
                <a:ea typeface="Courier New" pitchFamily="34" charset="-122"/>
                <a:cs typeface="Courier New" pitchFamily="34" charset="-120"/>
              </a:rPr>
              <a:t>{ "id": 3, "model": "Nexon EV Max", "seats": 5,</a:t>
            </a:r>
            <a:endParaRPr lang="en-US" sz="1000" dirty="0"/>
          </a:p>
          <a:p>
            <a:pPr indent="0" marL="0">
              <a:buNone/>
            </a:pPr>
            <a:r>
              <a:rPr lang="en-US" sz="1000" dirty="0">
                <a:solidFill>
                  <a:schemeClr val="accent4"/>
                </a:solidFill>
                <a:latin typeface="Courier New" pitchFamily="34" charset="0"/>
                <a:ea typeface="Courier New" pitchFamily="34" charset="-122"/>
                <a:cs typeface="Courier New" pitchFamily="34" charset="-120"/>
              </a:rPr>
              <a:t>  "rupees_per_day": 2950,</a:t>
            </a:r>
            <a:endParaRPr lang="en-US" sz="1000" dirty="0"/>
          </a:p>
          <a:p>
            <a:pPr indent="0" marL="0">
              <a:buNone/>
            </a:pPr>
            <a:r>
              <a:rPr lang="en-US" sz="1000" dirty="0">
                <a:solidFill>
                  <a:schemeClr val="accent4"/>
                </a:solidFill>
                <a:latin typeface="Courier New" pitchFamily="34" charset="0"/>
                <a:ea typeface="Courier New" pitchFamily="34" charset="-122"/>
                <a:cs typeface="Courier New" pitchFamily="34" charset="-120"/>
              </a:rPr>
              <a:t>  "branch": "Indiranagar" }</a:t>
            </a:r>
            <a:endParaRPr lang="en-US" sz="1000" dirty="0"/>
          </a:p>
          <a:p>
            <a:pPr indent="0" marL="0">
              <a:buNone/>
            </a:pPr>
            <a:r>
              <a:rPr lang="en-US" sz="500" dirty="0">
                <a:solidFill>
                  <a:schemeClr val="accent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chemeClr val="accent3"/>
                </a:solidFill>
                <a:latin typeface="Courier New" pitchFamily="34" charset="0"/>
                <a:ea typeface="Courier New" pitchFamily="34" charset="-122"/>
                <a:cs typeface="Courier New" pitchFamily="34" charset="-120"/>
              </a:rPr>
              <a:t>tool call  check_availability</a:t>
            </a:r>
            <a:endParaRPr lang="en-US" sz="1000" dirty="0"/>
          </a:p>
          <a:p>
            <a:pPr indent="0" marL="0">
              <a:buNone/>
            </a:pPr>
            <a:r>
              <a:rPr lang="en-US" sz="1000" dirty="0">
                <a:solidFill>
                  <a:schemeClr val="accent4"/>
                </a:solidFill>
                <a:latin typeface="Courier New" pitchFamily="34" charset="0"/>
                <a:ea typeface="Courier New" pitchFamily="34" charset="-122"/>
                <a:cs typeface="Courier New" pitchFamily="34" charset="-120"/>
              </a:rPr>
              <a:t>{ "car_name": "Honda City ZX",</a:t>
            </a:r>
            <a:endParaRPr lang="en-US" sz="1000" dirty="0"/>
          </a:p>
          <a:p>
            <a:pPr indent="0" marL="0">
              <a:buNone/>
            </a:pPr>
            <a:r>
              <a:rPr lang="en-US" sz="1000" dirty="0">
                <a:solidFill>
                  <a:schemeClr val="accent4"/>
                </a:solidFill>
                <a:latin typeface="Courier New" pitchFamily="34" charset="0"/>
                <a:ea typeface="Courier New" pitchFamily="34" charset="-122"/>
                <a:cs typeface="Courier New" pitchFamily="34" charset="-120"/>
              </a:rPr>
              <a:t>  "start_date": "2026-10-23",</a:t>
            </a:r>
            <a:endParaRPr lang="en-US" sz="1000" dirty="0"/>
          </a:p>
          <a:p>
            <a:pPr indent="0" marL="0">
              <a:buNone/>
            </a:pPr>
            <a:r>
              <a:rPr lang="en-US" sz="1000" dirty="0">
                <a:solidFill>
                  <a:schemeClr val="accent4"/>
                </a:solidFill>
                <a:latin typeface="Courier New" pitchFamily="34" charset="0"/>
                <a:ea typeface="Courier New" pitchFamily="34" charset="-122"/>
                <a:cs typeface="Courier New" pitchFamily="34" charset="-120"/>
              </a:rPr>
              <a:t>  "end_date": "2026-10-26" }</a:t>
            </a:r>
            <a:endParaRPr lang="en-US" sz="1000" dirty="0"/>
          </a:p>
          <a:p>
            <a:pPr indent="0" marL="0">
              <a:buNone/>
            </a:pPr>
            <a:r>
              <a:rPr lang="en-US" sz="1000" b="1" dirty="0">
                <a:solidFill>
                  <a:schemeClr val="accent3"/>
                </a:solidFill>
                <a:latin typeface="Courier New" pitchFamily="34" charset="0"/>
                <a:ea typeface="Courier New" pitchFamily="34" charset="-122"/>
                <a:cs typeface="Courier New" pitchFamily="34" charset="-120"/>
              </a:rPr>
              <a:t>tool result</a:t>
            </a:r>
            <a:endParaRPr lang="en-US" sz="1000" dirty="0"/>
          </a:p>
          <a:p>
            <a:pPr indent="0" marL="0">
              <a:buNone/>
            </a:pPr>
            <a:r>
              <a:rPr lang="en-US" sz="1000" dirty="0">
                <a:solidFill>
                  <a:schemeClr val="accent4"/>
                </a:solidFill>
                <a:latin typeface="Courier New" pitchFamily="34" charset="0"/>
                <a:ea typeface="Courier New" pitchFamily="34" charset="-122"/>
                <a:cs typeface="Courier New" pitchFamily="34" charset="-120"/>
              </a:rPr>
              <a:t>{ "available": true, "days": 3,</a:t>
            </a:r>
            <a:endParaRPr lang="en-US" sz="1000" dirty="0"/>
          </a:p>
          <a:p>
            <a:pPr indent="0" marL="0">
              <a:buNone/>
            </a:pPr>
            <a:r>
              <a:rPr lang="en-US" sz="1000" dirty="0">
                <a:solidFill>
                  <a:schemeClr val="accent4"/>
                </a:solidFill>
                <a:latin typeface="Courier New" pitchFamily="34" charset="0"/>
                <a:ea typeface="Courier New" pitchFamily="34" charset="-122"/>
                <a:cs typeface="Courier New" pitchFamily="34" charset="-120"/>
              </a:rPr>
              <a:t>  "rental_rupees": 7200 }</a:t>
            </a:r>
            <a:endParaRPr lang="en-US" sz="1000" dirty="0"/>
          </a:p>
        </p:txBody>
      </p:sp>
      <p:sp>
        <p:nvSpPr>
          <p:cNvPr id="6" name="search_fleet card"/>
          <p:cNvSpPr/>
          <p:nvPr/>
        </p:nvSpPr>
        <p:spPr>
          <a:xfrm>
            <a:off x="5029200" y="1143000"/>
            <a:ext cx="3657600" cy="1188720"/>
          </a:xfrm>
          <a:prstGeom prst="rect">
            <a:avLst/>
          </a:prstGeom>
          <a:solidFill>
            <a:schemeClr val="accent6"/>
          </a:solidFill>
          <a:ln w="9525">
            <a:solidFill>
              <a:schemeClr val="tx2"/>
            </a:solidFill>
            <a:prstDash val="solid"/>
          </a:ln>
        </p:spPr>
      </p:sp>
      <p:sp>
        <p:nvSpPr>
          <p:cNvPr id="7" name="search_fleet text"/>
          <p:cNvSpPr txBox="1"/>
          <p:nvPr/>
        </p:nvSpPr>
        <p:spPr>
          <a:xfrm>
            <a:off x="5166360" y="1216152"/>
            <a:ext cx="3383280" cy="1188720"/>
          </a:xfrm>
          <a:prstGeom prst="rect">
            <a:avLst/>
          </a:prstGeom>
          <a:noFill/>
          <a:ln/>
        </p:spPr>
        <p:txBody>
          <a:bodyPr wrap="square" lIns="0" tIns="0" rIns="0" bIns="0" rtlCol="0" anchor="t"/>
          <a:lstStyle/>
          <a:p>
            <a:pPr indent="0" marL="0">
              <a:spcAft>
                <a:spcPts val="300"/>
              </a:spcAft>
              <a:buNone/>
            </a:pPr>
            <a:r>
              <a:rPr lang="en-US" sz="1400" b="1" dirty="0">
                <a:solidFill>
                  <a:schemeClr val="accent2"/>
                </a:solidFill>
                <a:latin typeface="Courier New" pitchFamily="34" charset="0"/>
                <a:ea typeface="Courier New" pitchFamily="34" charset="-122"/>
                <a:cs typeface="Courier New" pitchFamily="34" charset="-120"/>
              </a:rPr>
              <a:t>search_fleet</a:t>
            </a:r>
            <a:endParaRPr lang="en-US" sz="1400" dirty="0"/>
          </a:p>
          <a:p>
            <a:pPr indent="0" marL="0">
              <a:spcAft>
                <a:spcPts val="300"/>
              </a:spcAft>
              <a:buNone/>
            </a:pPr>
            <a:r>
              <a:rPr lang="en-US" sz="1150" dirty="0">
                <a:solidFill>
                  <a:schemeClr val="tx1"/>
                </a:solidFill>
              </a:rPr>
              <a:t>Seats, fuel, gearbox, price and brand, each bound as a ? in one fixed query. Sort is an allowlisted key.</a:t>
            </a:r>
            <a:endParaRPr lang="en-US" sz="1400" dirty="0"/>
          </a:p>
          <a:p>
            <a:pPr indent="0" marL="0">
              <a:spcAft>
                <a:spcPts val="300"/>
              </a:spcAft>
              <a:buNone/>
            </a:pPr>
            <a:r>
              <a:rPr lang="en-US" sz="1000" dirty="0">
                <a:solidFill>
                  <a:schemeClr val="tx2"/>
                </a:solidFill>
                <a:latin typeface="Courier New" pitchFamily="34" charset="0"/>
                <a:ea typeface="Courier New" pitchFamily="34" charset="-122"/>
                <a:cs typeface="Courier New" pitchFamily="34" charset="-120"/>
              </a:rPr>
              <a:t>WHERE c.is_active = 1 AND c.seats &gt;= ? ...</a:t>
            </a:r>
            <a:endParaRPr lang="en-US" sz="1400" dirty="0"/>
          </a:p>
        </p:txBody>
      </p:sp>
      <p:sp>
        <p:nvSpPr>
          <p:cNvPr id="8" name="check_availability card"/>
          <p:cNvSpPr/>
          <p:nvPr/>
        </p:nvSpPr>
        <p:spPr>
          <a:xfrm>
            <a:off x="5029200" y="2514600"/>
            <a:ext cx="3657600" cy="1188720"/>
          </a:xfrm>
          <a:prstGeom prst="rect">
            <a:avLst/>
          </a:prstGeom>
          <a:solidFill>
            <a:schemeClr val="accent6"/>
          </a:solidFill>
          <a:ln w="9525">
            <a:solidFill>
              <a:schemeClr val="tx2"/>
            </a:solidFill>
            <a:prstDash val="solid"/>
          </a:ln>
        </p:spPr>
      </p:sp>
      <p:sp>
        <p:nvSpPr>
          <p:cNvPr id="9" name="check_availability text"/>
          <p:cNvSpPr txBox="1"/>
          <p:nvPr/>
        </p:nvSpPr>
        <p:spPr>
          <a:xfrm>
            <a:off x="5166360" y="2587752"/>
            <a:ext cx="3383280" cy="1188720"/>
          </a:xfrm>
          <a:prstGeom prst="rect">
            <a:avLst/>
          </a:prstGeom>
          <a:noFill/>
          <a:ln/>
        </p:spPr>
        <p:txBody>
          <a:bodyPr wrap="square" lIns="0" tIns="0" rIns="0" bIns="0" rtlCol="0" anchor="t"/>
          <a:lstStyle/>
          <a:p>
            <a:pPr indent="0" marL="0">
              <a:spcAft>
                <a:spcPts val="300"/>
              </a:spcAft>
              <a:buNone/>
            </a:pPr>
            <a:r>
              <a:rPr lang="en-US" sz="1400" b="1" dirty="0">
                <a:solidFill>
                  <a:schemeClr val="accent2"/>
                </a:solidFill>
                <a:latin typeface="Courier New" pitchFamily="34" charset="0"/>
                <a:ea typeface="Courier New" pitchFamily="34" charset="-122"/>
                <a:cs typeface="Courier New" pitchFamily="34" charset="-120"/>
              </a:rPr>
              <a:t>check_availability</a:t>
            </a:r>
            <a:endParaRPr lang="en-US" sz="1400" dirty="0"/>
          </a:p>
          <a:p>
            <a:pPr indent="0" marL="0">
              <a:spcAft>
                <a:spcPts val="300"/>
              </a:spcAft>
              <a:buNone/>
            </a:pPr>
            <a:r>
              <a:rPr lang="en-US" sz="1150" dirty="0">
                <a:solidFill>
                  <a:schemeClr val="tx1"/>
                </a:solidFill>
              </a:rPr>
              <a:t>Takes the car by id or by name, then the same overlap rule the booking procedure checks under its lock.</a:t>
            </a:r>
            <a:endParaRPr lang="en-US" sz="1400" dirty="0"/>
          </a:p>
          <a:p>
            <a:pPr indent="0" marL="0">
              <a:spcAft>
                <a:spcPts val="300"/>
              </a:spcAft>
              <a:buNone/>
            </a:pPr>
            <a:r>
              <a:rPr lang="en-US" sz="1000" dirty="0">
                <a:solidFill>
                  <a:schemeClr val="tx2"/>
                </a:solidFill>
                <a:latin typeface="Courier New" pitchFamily="34" charset="0"/>
                <a:ea typeface="Courier New" pitchFamily="34" charset="-122"/>
                <a:cs typeface="Courier New" pitchFamily="34" charset="-120"/>
              </a:rPr>
              <a:t>SELECT fn_car_available(?, ?, ?)</a:t>
            </a:r>
            <a:endParaRPr lang="en-US" sz="1400" dirty="0"/>
          </a:p>
        </p:txBody>
      </p:sp>
      <p:sp>
        <p:nvSpPr>
          <p:cNvPr id="10" name="Validation note"/>
          <p:cNvSpPr txBox="1"/>
          <p:nvPr/>
        </p:nvSpPr>
        <p:spPr>
          <a:xfrm>
            <a:off x="5029200" y="3931920"/>
            <a:ext cx="3657600" cy="548640"/>
          </a:xfrm>
          <a:prstGeom prst="rect">
            <a:avLst/>
          </a:prstGeom>
          <a:noFill/>
          <a:ln/>
        </p:spPr>
        <p:txBody>
          <a:bodyPr wrap="square" lIns="0" tIns="0" rIns="0" bIns="0" rtlCol="0" anchor="t"/>
          <a:lstStyle/>
          <a:p>
            <a:pPr indent="0" marL="0">
              <a:buNone/>
            </a:pPr>
            <a:r>
              <a:rPr lang="en-US" sz="1150" i="1" dirty="0">
                <a:solidFill>
                  <a:schemeClr val="tx1"/>
                </a:solidFill>
              </a:rPr>
              <a:t>Every argument is checked by zod first. A bad call goes back to the model as an error it can correct, never to a query.</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What the visitor sees</a:t>
            </a:r>
            <a:endParaRPr lang="en-US" sz="3200" dirty="0"/>
          </a:p>
        </p:txBody>
      </p:sp>
      <p:sp>
        <p:nvSpPr>
          <p:cNvPr id="3" name="Illustrative note"/>
          <p:cNvSpPr txBox="1"/>
          <p:nvPr/>
        </p:nvSpPr>
        <p:spPr>
          <a:xfrm>
            <a:off x="457200" y="896112"/>
            <a:ext cx="8229600" cy="365760"/>
          </a:xfrm>
          <a:prstGeom prst="rect">
            <a:avLst/>
          </a:prstGeom>
          <a:noFill/>
          <a:ln/>
        </p:spPr>
        <p:txBody>
          <a:bodyPr wrap="square" lIns="0" tIns="0" rIns="0" bIns="0" rtlCol="0" anchor="t"/>
          <a:lstStyle/>
          <a:p>
            <a:pPr indent="0" marL="0">
              <a:buNone/>
            </a:pPr>
            <a:r>
              <a:rPr lang="en-US" sz="1100" i="1" dirty="0">
                <a:solidFill>
                  <a:schemeClr val="accent2"/>
                </a:solidFill>
              </a:rPr>
              <a:t>Real, unedited answers from qwen2.5:3b in Ollama on this laptop’s CPU, against the seeded fleet. Each reply took 10 to 27 seconds.</a:t>
            </a:r>
            <a:endParaRPr lang="en-US" sz="1100" dirty="0"/>
          </a:p>
        </p:txBody>
      </p:sp>
      <p:pic>
        <p:nvPicPr>
          <p:cNvPr id="4" name="While it looks through the fleet" descr="While it looks through the fleet">    </p:cNvPr>
          <p:cNvPicPr>
            <a:picLocks noChangeAspect="1"/>
          </p:cNvPicPr>
          <p:nvPr/>
        </p:nvPicPr>
        <p:blipFill>
          <a:blip r:embed="rId1"/>
          <a:stretch>
            <a:fillRect/>
          </a:stretch>
        </p:blipFill>
        <p:spPr>
          <a:xfrm>
            <a:off x="457200" y="1371600"/>
            <a:ext cx="1874520" cy="3017520"/>
          </a:xfrm>
          <a:prstGeom prst="rect">
            <a:avLst/>
          </a:prstGeom>
          <a:effectLst>
            <a:outerShdw sx="100000" sy="100000" kx="0" ky="0" algn="bl" rotWithShape="0" blurRad="127000" dist="38100" dir="5400000">
              <a:srgbClr val="1A1A1A">
                <a:alpha val="28000"/>
              </a:srgbClr>
            </a:outerShdw>
          </a:effectLst>
        </p:spPr>
      </p:pic>
      <p:sp>
        <p:nvSpPr>
          <p:cNvPr id="5" name="Caption 1"/>
          <p:cNvSpPr txBox="1"/>
          <p:nvPr/>
        </p:nvSpPr>
        <p:spPr>
          <a:xfrm>
            <a:off x="457200" y="4434840"/>
            <a:ext cx="2148840" cy="274320"/>
          </a:xfrm>
          <a:prstGeom prst="rect">
            <a:avLst/>
          </a:prstGeom>
          <a:noFill/>
          <a:ln/>
        </p:spPr>
        <p:txBody>
          <a:bodyPr wrap="square" lIns="0" tIns="0" rIns="0" bIns="0" rtlCol="0" anchor="ctr"/>
          <a:lstStyle/>
          <a:p>
            <a:pPr indent="0" marL="0">
              <a:buNone/>
            </a:pPr>
            <a:r>
              <a:rPr lang="en-US" sz="1100" dirty="0">
                <a:solidFill>
                  <a:schemeClr val="tx1"/>
                </a:solidFill>
              </a:rPr>
              <a:t>1  While it looks through the fleet</a:t>
            </a:r>
            <a:endParaRPr lang="en-US" sz="1100" dirty="0"/>
          </a:p>
        </p:txBody>
      </p:sp>
      <p:pic>
        <p:nvPicPr>
          <p:cNvPr id="6" name="Three cars, real prices, linked" descr="Three cars, real prices, linked">    </p:cNvPr>
          <p:cNvPicPr>
            <a:picLocks noChangeAspect="1"/>
          </p:cNvPicPr>
          <p:nvPr/>
        </p:nvPicPr>
        <p:blipFill>
          <a:blip r:embed="rId2"/>
          <a:stretch>
            <a:fillRect/>
          </a:stretch>
        </p:blipFill>
        <p:spPr>
          <a:xfrm>
            <a:off x="2743200" y="1371600"/>
            <a:ext cx="1874520" cy="3017520"/>
          </a:xfrm>
          <a:prstGeom prst="rect">
            <a:avLst/>
          </a:prstGeom>
          <a:effectLst>
            <a:outerShdw sx="100000" sy="100000" kx="0" ky="0" algn="bl" rotWithShape="0" blurRad="127000" dist="38100" dir="5400000">
              <a:srgbClr val="1A1A1A">
                <a:alpha val="28000"/>
              </a:srgbClr>
            </a:outerShdw>
          </a:effectLst>
        </p:spPr>
      </p:pic>
      <p:sp>
        <p:nvSpPr>
          <p:cNvPr id="7" name="Caption 2"/>
          <p:cNvSpPr txBox="1"/>
          <p:nvPr/>
        </p:nvSpPr>
        <p:spPr>
          <a:xfrm>
            <a:off x="2743200" y="4434840"/>
            <a:ext cx="2148840" cy="274320"/>
          </a:xfrm>
          <a:prstGeom prst="rect">
            <a:avLst/>
          </a:prstGeom>
          <a:noFill/>
          <a:ln/>
        </p:spPr>
        <p:txBody>
          <a:bodyPr wrap="square" lIns="0" tIns="0" rIns="0" bIns="0" rtlCol="0" anchor="ctr"/>
          <a:lstStyle/>
          <a:p>
            <a:pPr indent="0" marL="0">
              <a:buNone/>
            </a:pPr>
            <a:r>
              <a:rPr lang="en-US" sz="1100" dirty="0">
                <a:solidFill>
                  <a:schemeClr val="tx1"/>
                </a:solidFill>
              </a:rPr>
              <a:t>2  Three cars, real prices, linked</a:t>
            </a:r>
            <a:endParaRPr lang="en-US" sz="1100" dirty="0"/>
          </a:p>
        </p:txBody>
      </p:sp>
      <p:pic>
        <p:nvPicPr>
          <p:cNvPr id="8" name="Dates checked and priced" descr="Dates checked and priced">    </p:cNvPr>
          <p:cNvPicPr>
            <a:picLocks noChangeAspect="1"/>
          </p:cNvPicPr>
          <p:nvPr/>
        </p:nvPicPr>
        <p:blipFill>
          <a:blip r:embed="rId3"/>
          <a:stretch>
            <a:fillRect/>
          </a:stretch>
        </p:blipFill>
        <p:spPr>
          <a:xfrm>
            <a:off x="5029200" y="1371600"/>
            <a:ext cx="1874520" cy="3017520"/>
          </a:xfrm>
          <a:prstGeom prst="rect">
            <a:avLst/>
          </a:prstGeom>
          <a:effectLst>
            <a:outerShdw sx="100000" sy="100000" kx="0" ky="0" algn="bl" rotWithShape="0" blurRad="127000" dist="38100" dir="5400000">
              <a:srgbClr val="1A1A1A">
                <a:alpha val="28000"/>
              </a:srgbClr>
            </a:outerShdw>
          </a:effectLst>
        </p:spPr>
      </p:pic>
      <p:sp>
        <p:nvSpPr>
          <p:cNvPr id="9" name="Caption 3"/>
          <p:cNvSpPr txBox="1"/>
          <p:nvPr/>
        </p:nvSpPr>
        <p:spPr>
          <a:xfrm>
            <a:off x="5029200" y="4434840"/>
            <a:ext cx="2148840" cy="274320"/>
          </a:xfrm>
          <a:prstGeom prst="rect">
            <a:avLst/>
          </a:prstGeom>
          <a:noFill/>
          <a:ln/>
        </p:spPr>
        <p:txBody>
          <a:bodyPr wrap="square" lIns="0" tIns="0" rIns="0" bIns="0" rtlCol="0" anchor="ctr"/>
          <a:lstStyle/>
          <a:p>
            <a:pPr indent="0" marL="0">
              <a:buNone/>
            </a:pPr>
            <a:r>
              <a:rPr lang="en-US" sz="1100" dirty="0">
                <a:solidFill>
                  <a:schemeClr val="tx1"/>
                </a:solidFill>
              </a:rPr>
              <a:t>3  Dates checked and priced</a:t>
            </a:r>
            <a:endParaRPr lang="en-US" sz="1100" dirty="0"/>
          </a:p>
        </p:txBody>
      </p:sp>
      <p:pic>
        <p:nvPicPr>
          <p:cNvPr id="10" name="On a phone" descr="On a phone">    </p:cNvPr>
          <p:cNvPicPr>
            <a:picLocks noChangeAspect="1"/>
          </p:cNvPicPr>
          <p:nvPr/>
        </p:nvPicPr>
        <p:blipFill>
          <a:blip r:embed="rId4"/>
          <a:stretch>
            <a:fillRect/>
          </a:stretch>
        </p:blipFill>
        <p:spPr>
          <a:xfrm>
            <a:off x="7315200" y="1371600"/>
            <a:ext cx="1389888" cy="3017520"/>
          </a:xfrm>
          <a:prstGeom prst="rect">
            <a:avLst/>
          </a:prstGeom>
          <a:effectLst>
            <a:outerShdw sx="100000" sy="100000" kx="0" ky="0" algn="bl" rotWithShape="0" blurRad="127000" dist="38100" dir="5400000">
              <a:srgbClr val="1A1A1A">
                <a:alpha val="28000"/>
              </a:srgbClr>
            </a:outerShdw>
          </a:effectLst>
        </p:spPr>
      </p:pic>
      <p:sp>
        <p:nvSpPr>
          <p:cNvPr id="11" name="Caption 4"/>
          <p:cNvSpPr txBox="1"/>
          <p:nvPr/>
        </p:nvSpPr>
        <p:spPr>
          <a:xfrm>
            <a:off x="7315200" y="4434840"/>
            <a:ext cx="1664208" cy="274320"/>
          </a:xfrm>
          <a:prstGeom prst="rect">
            <a:avLst/>
          </a:prstGeom>
          <a:noFill/>
          <a:ln/>
        </p:spPr>
        <p:txBody>
          <a:bodyPr wrap="square" lIns="0" tIns="0" rIns="0" bIns="0" rtlCol="0" anchor="ctr"/>
          <a:lstStyle/>
          <a:p>
            <a:pPr indent="0" marL="0">
              <a:buNone/>
            </a:pPr>
            <a:r>
              <a:rPr lang="en-US" sz="1100" dirty="0">
                <a:solidFill>
                  <a:schemeClr val="tx1"/>
                </a:solidFill>
              </a:rPr>
              <a:t>4  On a phone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Guardrails, tests and limits</a:t>
            </a:r>
            <a:endParaRPr lang="en-US" sz="3200" dirty="0"/>
          </a:p>
        </p:txBody>
      </p:sp>
      <p:sp>
        <p:nvSpPr>
          <p:cNvPr id="3" name="Guardrails"/>
          <p:cNvSpPr txBox="1"/>
          <p:nvPr/>
        </p:nvSpPr>
        <p:spPr>
          <a:xfrm>
            <a:off x="457200" y="1143000"/>
            <a:ext cx="4480560" cy="34747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accent4"/>
                </a:solidFill>
              </a:rPr>
              <a:t>The model runs on our server: no API key, no third party, and the page’s CSP still allows our own origin only</a:t>
            </a:r>
            <a:endParaRPr lang="en-US" sz="1300" dirty="0"/>
          </a:p>
          <a:p>
            <a:pPr marL="342900" indent="-342900">
              <a:spcAft>
                <a:spcPts val="800"/>
              </a:spcAft>
              <a:buSzPct val="100000"/>
              <a:buChar char="•"/>
            </a:pPr>
            <a:r>
              <a:rPr lang="en-US" sz="1300" dirty="0">
                <a:solidFill>
                  <a:schemeClr val="accent4"/>
                </a:solidFill>
              </a:rPr>
              <a:t>zod checks the chat (roles, turns, length) and every tool call</a:t>
            </a:r>
            <a:endParaRPr lang="en-US" sz="1300" dirty="0"/>
          </a:p>
          <a:p>
            <a:pPr marL="342900" indent="-342900">
              <a:spcAft>
                <a:spcPts val="800"/>
              </a:spcAft>
              <a:buSzPct val="100000"/>
              <a:buChar char="•"/>
            </a:pPr>
            <a:r>
              <a:rPr lang="en-US" sz="1300" dirty="0">
                <a:solidFill>
                  <a:schemeClr val="accent4"/>
                </a:solidFill>
              </a:rPr>
              <a:t>Read-only, parameterised SQL; the model never writes a query</a:t>
            </a:r>
            <a:endParaRPr lang="en-US" sz="1300" dirty="0"/>
          </a:p>
          <a:p>
            <a:pPr marL="342900" indent="-342900">
              <a:spcAft>
                <a:spcPts val="800"/>
              </a:spcAft>
              <a:buSzPct val="100000"/>
              <a:buChar char="•"/>
            </a:pPr>
            <a:r>
              <a:rPr lang="en-US" sz="1300" dirty="0">
                <a:solidFill>
                  <a:schemeClr val="accent4"/>
                </a:solidFill>
              </a:rPr>
              <a:t>No car or price before a search; every ₹ amount must be one a tool returned</a:t>
            </a:r>
            <a:endParaRPr lang="en-US" sz="1300" dirty="0"/>
          </a:p>
          <a:p>
            <a:pPr marL="342900" indent="-342900">
              <a:spcAft>
                <a:spcPts val="800"/>
              </a:spcAft>
              <a:buSzPct val="100000"/>
              <a:buChar char="•"/>
            </a:pPr>
            <a:r>
              <a:rPr lang="en-US" sz="1300" dirty="0">
                <a:solidFill>
                  <a:schemeClr val="accent4"/>
                </a:solidFill>
              </a:rPr>
              <a:t>Only cars a tool returned are linked; invented links are stripped</a:t>
            </a:r>
            <a:endParaRPr lang="en-US" sz="1300" dirty="0"/>
          </a:p>
          <a:p>
            <a:pPr marL="342900" indent="-342900">
              <a:spcAft>
                <a:spcPts val="800"/>
              </a:spcAft>
              <a:buSzPct val="100000"/>
              <a:buChar char="•"/>
            </a:pPr>
            <a:r>
              <a:rPr lang="en-US" sz="1300" dirty="0">
                <a:solidFill>
                  <a:schemeClr val="accent4"/>
                </a:solidFill>
              </a:rPr>
              <a:t>20 messages per visitor in 10 minutes, to spare the CPU</a:t>
            </a:r>
            <a:endParaRPr lang="en-US" sz="1300" dirty="0"/>
          </a:p>
        </p:txBody>
      </p:sp>
      <p:sp>
        <p:nvSpPr>
          <p:cNvPr id="4" name="Stat 72"/>
          <p:cNvSpPr txBox="1"/>
          <p:nvPr/>
        </p:nvSpPr>
        <p:spPr>
          <a:xfrm>
            <a:off x="5303520" y="1097280"/>
            <a:ext cx="1097280" cy="73152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72</a:t>
            </a:r>
            <a:endParaRPr lang="en-US" sz="4400" dirty="0"/>
          </a:p>
        </p:txBody>
      </p:sp>
      <p:sp>
        <p:nvSpPr>
          <p:cNvPr id="5" name="Stat 72 label"/>
          <p:cNvSpPr txBox="1"/>
          <p:nvPr/>
        </p:nvSpPr>
        <p:spPr>
          <a:xfrm>
            <a:off x="6446520" y="1188720"/>
            <a:ext cx="2240280" cy="548640"/>
          </a:xfrm>
          <a:prstGeom prst="rect">
            <a:avLst/>
          </a:prstGeom>
          <a:noFill/>
          <a:ln/>
        </p:spPr>
        <p:txBody>
          <a:bodyPr wrap="square" lIns="0" tIns="0" rIns="0" bIns="0" rtlCol="0" anchor="ctr"/>
          <a:lstStyle/>
          <a:p>
            <a:pPr indent="0" marL="0">
              <a:buNone/>
            </a:pPr>
            <a:r>
              <a:rPr lang="en-US" sz="1200" dirty="0">
                <a:solidFill>
                  <a:schemeClr val="accent4"/>
                </a:solidFill>
              </a:rPr>
              <a:t>tests pass against MySQL, 8 of them for the advisor</a:t>
            </a:r>
            <a:endParaRPr lang="en-US" sz="1200" dirty="0"/>
          </a:p>
        </p:txBody>
      </p:sp>
      <p:sp>
        <p:nvSpPr>
          <p:cNvPr id="6" name="Stat 69"/>
          <p:cNvSpPr txBox="1"/>
          <p:nvPr/>
        </p:nvSpPr>
        <p:spPr>
          <a:xfrm>
            <a:off x="5303520" y="2011680"/>
            <a:ext cx="1097280" cy="73152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69</a:t>
            </a:r>
            <a:endParaRPr lang="en-US" sz="4400" dirty="0"/>
          </a:p>
        </p:txBody>
      </p:sp>
      <p:sp>
        <p:nvSpPr>
          <p:cNvPr id="7" name="Stat 69 label"/>
          <p:cNvSpPr txBox="1"/>
          <p:nvPr/>
        </p:nvSpPr>
        <p:spPr>
          <a:xfrm>
            <a:off x="6446520" y="2103120"/>
            <a:ext cx="2240280" cy="548640"/>
          </a:xfrm>
          <a:prstGeom prst="rect">
            <a:avLst/>
          </a:prstGeom>
          <a:noFill/>
          <a:ln/>
        </p:spPr>
        <p:txBody>
          <a:bodyPr wrap="square" lIns="0" tIns="0" rIns="0" bIns="0" rtlCol="0" anchor="ctr"/>
          <a:lstStyle/>
          <a:p>
            <a:pPr indent="0" marL="0">
              <a:buNone/>
            </a:pPr>
            <a:r>
              <a:rPr lang="en-US" sz="1200" dirty="0">
                <a:solidFill>
                  <a:schemeClr val="accent4"/>
                </a:solidFill>
              </a:rPr>
              <a:t>browser checks, including a live answer with real links</a:t>
            </a:r>
            <a:endParaRPr lang="en-US" sz="1200" dirty="0"/>
          </a:p>
        </p:txBody>
      </p:sp>
      <p:sp>
        <p:nvSpPr>
          <p:cNvPr id="8" name="Status card"/>
          <p:cNvSpPr/>
          <p:nvPr/>
        </p:nvSpPr>
        <p:spPr>
          <a:xfrm>
            <a:off x="5303520" y="2971800"/>
            <a:ext cx="3383280" cy="1371600"/>
          </a:xfrm>
          <a:prstGeom prst="rect">
            <a:avLst/>
          </a:prstGeom>
          <a:solidFill>
            <a:schemeClr val="accent5"/>
          </a:solidFill>
          <a:ln w="9525">
            <a:solidFill>
              <a:schemeClr val="accent3"/>
            </a:solidFill>
            <a:prstDash val="solid"/>
          </a:ln>
        </p:spPr>
      </p:sp>
      <p:sp>
        <p:nvSpPr>
          <p:cNvPr id="9" name="Status text"/>
          <p:cNvSpPr txBox="1"/>
          <p:nvPr/>
        </p:nvSpPr>
        <p:spPr>
          <a:xfrm>
            <a:off x="5440680" y="3044952"/>
            <a:ext cx="3108960" cy="1243584"/>
          </a:xfrm>
          <a:prstGeom prst="rect">
            <a:avLst/>
          </a:prstGeom>
          <a:noFill/>
          <a:ln/>
        </p:spPr>
        <p:txBody>
          <a:bodyPr wrap="square" lIns="0" tIns="0" rIns="0" bIns="0" rtlCol="0" anchor="t"/>
          <a:lstStyle/>
          <a:p>
            <a:pPr indent="0" marL="0">
              <a:buNone/>
            </a:pPr>
            <a:r>
              <a:rPr lang="en-US" sz="1300" b="1" dirty="0">
                <a:solidFill>
                  <a:schemeClr val="accent3"/>
                </a:solidFill>
              </a:rPr>
              <a:t>Limits</a:t>
            </a:r>
            <a:endParaRPr lang="en-US" sz="1300" dirty="0"/>
          </a:p>
          <a:p>
            <a:pPr indent="0" marL="0">
              <a:buNone/>
            </a:pPr>
            <a:r>
              <a:rPr lang="en-US" sz="1100" dirty="0">
                <a:solidFill>
                  <a:schemeClr val="bg1"/>
                </a:solidFill>
              </a:rPr>
              <a:t>A 3B model on a CPU is slow (10 to 27 s a reply) and can still misdescribe a car: once it called the manual Swift automatic. The server checks prices and searches, not every sentence. A larger model or a GPU would help.</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D4Drive Carmine">
  <a:themeElements>
    <a:clrScheme name="D4Drive Carmine">
      <a:dk1>
        <a:srgbClr val="1A1A1A"/>
      </a:dk1>
      <a:lt1>
        <a:srgbClr val="FFFFFF"/>
      </a:lt1>
      <a:dk2>
        <a:srgbClr val="45423E"/>
      </a:dk2>
      <a:lt2>
        <a:srgbClr val="BDBCBA"/>
      </a:lt2>
      <a:accent1>
        <a:srgbClr val="A82519"/>
      </a:accent1>
      <a:accent2>
        <a:srgbClr val="7D1A12"/>
      </a:accent2>
      <a:accent3>
        <a:srgbClr val="E8806F"/>
      </a:accent3>
      <a:accent4>
        <a:srgbClr val="F3E4DC"/>
      </a:accent4>
      <a:accent5>
        <a:srgbClr val="2B2826"/>
      </a:accent5>
      <a:accent6>
        <a:srgbClr val="D6D5D3"/>
      </a:accent6>
      <a:hlink>
        <a:srgbClr val="A82519"/>
      </a:hlink>
      <a:folHlink>
        <a:srgbClr val="7D1A12"/>
      </a:folHlink>
    </a:clrScheme>
    <a:fontScheme name="D4Drive Carm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D4Drive: the AI car advisor</dc:title>
  <dc:subject>A local language model (Ollama) with database tools, integrated into D4Drive</dc:subject>
  <dc:creator>Rohit</dc:creator>
  <cp:lastModifiedBy>Rohit</cp:lastModifiedBy>
  <cp:revision>1</cp:revision>
  <dcterms:created xsi:type="dcterms:W3CDTF">2026-10-24T22:17:15Z</dcterms:created>
  <dcterms:modified xsi:type="dcterms:W3CDTF">2026-10-24T22:17:15Z</dcterms:modified>
</cp:coreProperties>
</file>